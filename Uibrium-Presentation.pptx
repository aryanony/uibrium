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7" d="100"/>
          <a:sy n="107" d="100"/>
        </p:scale>
        <p:origin x="-306" y="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824002-7031-45F9-8116-15DAF1BD89C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56253-6D19-4E45-86A7-5DF15488C1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180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ibrium.vercel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github.com/aryanony.uibrium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8.png"/><Relationship Id="rId4" Type="http://schemas.openxmlformats.org/officeDocument/2006/relationships/image" Target="../media/image29.png"/><Relationship Id="rId9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943600" y="-457200"/>
            <a:ext cx="5029200" cy="5029200"/>
          </a:xfrm>
          <a:prstGeom prst="ellipse">
            <a:avLst/>
          </a:prstGeom>
          <a:solidFill>
            <a:srgbClr val="4338CA">
              <a:alpha val="9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1371600"/>
            <a:ext cx="4572000" cy="4572000"/>
          </a:xfrm>
          <a:prstGeom prst="ellipse">
            <a:avLst/>
          </a:prstGeom>
          <a:solidFill>
            <a:srgbClr val="0891B2">
              <a:alpha val="5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8836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Smarter.  Ship Faster.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97280" y="2468880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open-source React design system engineered for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user experiences and deterministic UI integrity.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0624" y="3145536"/>
            <a:ext cx="1938528" cy="274320"/>
          </a:xfrm>
          <a:prstGeom prst="rect">
            <a:avLst/>
          </a:prstGeom>
          <a:solidFill>
            <a:srgbClr val="7C3AED">
              <a:alpha val="30000"/>
            </a:srgbClr>
          </a:solidFill>
          <a:ln w="9525">
            <a:solidFill>
              <a:srgbClr val="7C3AED">
                <a:alpha val="64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0624" y="314553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React + TypeScript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05456" y="3145536"/>
            <a:ext cx="1938528" cy="274320"/>
          </a:xfrm>
          <a:prstGeom prst="rect">
            <a:avLst/>
          </a:prstGeom>
          <a:solidFill>
            <a:srgbClr val="4338CA">
              <a:alpha val="30000"/>
            </a:srgbClr>
          </a:solidFill>
          <a:ln w="9525">
            <a:solidFill>
              <a:srgbClr val="4338CA">
                <a:alpha val="64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05456" y="314553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19+ Components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90288" y="3145536"/>
            <a:ext cx="1938528" cy="274320"/>
          </a:xfrm>
          <a:prstGeom prst="rect">
            <a:avLst/>
          </a:prstGeom>
          <a:solidFill>
            <a:srgbClr val="0891B2">
              <a:alpha val="30000"/>
            </a:srgbClr>
          </a:solidFill>
          <a:ln w="9525">
            <a:solidFill>
              <a:srgbClr val="0891B2">
                <a:alpha val="64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314553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WAI-ARIA Accessible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675120" y="3145536"/>
            <a:ext cx="1938528" cy="274320"/>
          </a:xfrm>
          <a:prstGeom prst="rect">
            <a:avLst/>
          </a:prstGeom>
          <a:solidFill>
            <a:srgbClr val="059669">
              <a:alpha val="30000"/>
            </a:srgbClr>
          </a:solidFill>
          <a:ln w="9525">
            <a:solidFill>
              <a:srgbClr val="059669">
                <a:alpha val="64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0" y="314553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MIT Open Source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3593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Component Users  ·  Contributors  ·  Frontend Teams  ·  Clients  ·  Recruiters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029968" y="4005072"/>
            <a:ext cx="2176272" cy="384048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IN" b="1" i="1" dirty="0">
              <a:solidFill>
                <a:srgbClr val="7030A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2029968" y="400507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FFFFFF"/>
                </a:solidFill>
                <a:hlinkClick r:id="rId3"/>
              </a:rPr>
              <a:t>uibrium.vercel.app</a:t>
            </a:r>
            <a:endParaRPr lang="en-US" sz="1050" b="1" i="1" dirty="0"/>
          </a:p>
        </p:txBody>
      </p:sp>
      <p:sp>
        <p:nvSpPr>
          <p:cNvPr id="19" name="Shape 16"/>
          <p:cNvSpPr/>
          <p:nvPr/>
        </p:nvSpPr>
        <p:spPr>
          <a:xfrm>
            <a:off x="4937760" y="4005072"/>
            <a:ext cx="2176272" cy="384048"/>
          </a:xfrm>
          <a:prstGeom prst="rect">
            <a:avLst/>
          </a:prstGeom>
          <a:solidFill>
            <a:srgbClr val="0D1230">
              <a:alpha val="80000"/>
            </a:srgbClr>
          </a:solidFill>
          <a:ln w="12700">
            <a:solidFill>
              <a:srgbClr val="1A2456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937760" y="400507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7030A0"/>
                </a:solidFill>
                <a:hlinkClick r:id="rId4"/>
              </a:rPr>
              <a:t>github.com/aryanony/uibrium</a:t>
            </a:r>
            <a:endParaRPr lang="en-US" sz="900" b="1" i="1" dirty="0">
              <a:solidFill>
                <a:srgbClr val="7030A0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55574" y="45262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D72"/>
                </a:solidFill>
              </a:rPr>
              <a:t>Created by </a:t>
            </a:r>
            <a:r>
              <a:rPr lang="en-US" sz="850" dirty="0" err="1" smtClean="0">
                <a:solidFill>
                  <a:srgbClr val="3D4D72"/>
                </a:solidFill>
              </a:rPr>
              <a:t>Aaryan</a:t>
            </a:r>
            <a:r>
              <a:rPr lang="en-US" sz="850" dirty="0" smtClean="0">
                <a:solidFill>
                  <a:srgbClr val="3D4D72"/>
                </a:solidFill>
              </a:rPr>
              <a:t> </a:t>
            </a:r>
            <a:r>
              <a:rPr lang="en-US" sz="850" dirty="0">
                <a:solidFill>
                  <a:srgbClr val="3D4D72"/>
                </a:solidFill>
              </a:rPr>
              <a:t>Gupta  ·  v1.0.0  ·  MIT License</a:t>
            </a:r>
            <a:endParaRPr lang="en-US" sz="85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" y="216615"/>
            <a:ext cx="740664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029200" cy="5029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4114800" cy="4114800"/>
          </a:xfrm>
          <a:prstGeom prst="ellipse">
            <a:avLst/>
          </a:prstGeom>
          <a:solidFill>
            <a:srgbClr val="6366F1">
              <a:alpha val="7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4572000"/>
          </a:xfrm>
          <a:prstGeom prst="ellipse">
            <a:avLst/>
          </a:prstGeom>
          <a:solidFill>
            <a:srgbClr val="DC2626">
              <a:alpha val="7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914400"/>
            <a:ext cx="2743200" cy="2743200"/>
          </a:xfrm>
          <a:prstGeom prst="ellipse">
            <a:avLst/>
          </a:prstGeom>
          <a:solidFill>
            <a:srgbClr val="D97706">
              <a:alpha val="5000"/>
            </a:srgbClr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228600"/>
            <a:ext cx="1517904" cy="237744"/>
          </a:xfrm>
          <a:prstGeom prst="rect">
            <a:avLst/>
          </a:prstGeom>
          <a:solidFill>
            <a:srgbClr val="DC2626">
              <a:alpha val="22000"/>
            </a:srgbClr>
          </a:solidFill>
          <a:ln w="8255">
            <a:solidFill>
              <a:srgbClr val="DC2626">
                <a:alpha val="5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2860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POINT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548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Frontend Team Wastes Weeks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the Exact Same UI.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581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 Same Button. Same Modal. Same Input. Project after project. It ends here.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0624" y="1965960"/>
            <a:ext cx="4041648" cy="1234440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FBBF24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0624" y="1965960"/>
            <a:ext cx="50292" cy="1234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030932"/>
            <a:ext cx="384048" cy="384048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90" y="2111582"/>
            <a:ext cx="222748" cy="2227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60704" y="20574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Drain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060704" y="2368296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 of UI dev time spent rebuilding identical components every single project.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736592" y="1965960"/>
            <a:ext cx="4041648" cy="1234440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F8717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36592" y="1965960"/>
            <a:ext cx="50292" cy="12344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64608" y="2030932"/>
            <a:ext cx="384048" cy="384048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258" y="2111582"/>
            <a:ext cx="222748" cy="2227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76672" y="20574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376672" y="2368296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 makes their own button. No shared system. Designs drift with every sprint.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20624" y="3355848"/>
            <a:ext cx="4041648" cy="1234440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A855F7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20624" y="3355848"/>
            <a:ext cx="50292" cy="1234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8640" y="3420820"/>
            <a:ext cx="384048" cy="384048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90" y="3501470"/>
            <a:ext cx="222748" cy="2227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60704" y="34472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Accessibility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060704" y="375818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components skip ARIA. Screen readers fail. Real users get excluded.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736592" y="3355848"/>
            <a:ext cx="4041648" cy="1234440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22D3EE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736592" y="3355848"/>
            <a:ext cx="50292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864608" y="3420820"/>
            <a:ext cx="384048" cy="384048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5258" y="3501470"/>
            <a:ext cx="222748" cy="22274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376672" y="34472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Scalability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5376672" y="375818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UI becomes unmaintainable. Dark mode, theming, reuse — all nightmares.</a:t>
            </a:r>
            <a:endParaRPr lang="en-US" sz="950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592" y="4596504"/>
            <a:ext cx="1755648" cy="4135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029200" cy="5029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4114800" cy="4114800"/>
          </a:xfrm>
          <a:prstGeom prst="ellipse">
            <a:avLst/>
          </a:prstGeom>
          <a:solidFill>
            <a:srgbClr val="6366F1">
              <a:alpha val="7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228600"/>
            <a:ext cx="1353312" cy="237744"/>
          </a:xfrm>
          <a:prstGeom prst="rect">
            <a:avLst/>
          </a:prstGeom>
          <a:solidFill>
            <a:srgbClr val="A855F7">
              <a:alpha val="22000"/>
            </a:srgbClr>
          </a:solidFill>
          <a:ln w="8255">
            <a:solidFill>
              <a:srgbClr val="A855F7">
                <a:alpha val="5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22860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Uibrium —</a:t>
            </a:r>
            <a:endParaRPr lang="en-US" sz="3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Design Sanctuary.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420624" y="1682496"/>
            <a:ext cx="4297680" cy="3246120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1A2456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0624" y="1682496"/>
            <a:ext cx="50292" cy="32461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" y="17739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Uibrium?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3504" y="2103120"/>
            <a:ext cx="40050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Uibrium is a premium, open-source React design system and component library that marries couture design with rock-solid engineering. It delivers high-fidelity user experiences with deterministic UI integrity — balancing beauty and performance in every element.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255264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77824" y="3227832"/>
            <a:ext cx="3675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production-ready components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52958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7824" y="3502152"/>
            <a:ext cx="3675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ThemeProvider + system dark mode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803904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7824" y="3776472"/>
            <a:ext cx="3675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WAI-ARIA 2.1 accessible interactions</a:t>
            </a:r>
            <a:endParaRPr lang="en-US" sz="10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078224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77824" y="4050792"/>
            <a:ext cx="3675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micro-animations</a:t>
            </a:r>
            <a:endParaRPr lang="en-US" sz="10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352544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77824" y="4325112"/>
            <a:ext cx="3675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 UI headless primitives</a:t>
            </a:r>
            <a:endParaRPr lang="en-US" sz="10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626864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77824" y="4599432"/>
            <a:ext cx="3675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 + CJS tree-shakable bundles</a:t>
            </a:r>
            <a:endParaRPr lang="en-US" sz="1050" dirty="0"/>
          </a:p>
        </p:txBody>
      </p:sp>
      <p:sp>
        <p:nvSpPr>
          <p:cNvPr id="24" name="Shape 15"/>
          <p:cNvSpPr/>
          <p:nvPr/>
        </p:nvSpPr>
        <p:spPr>
          <a:xfrm>
            <a:off x="4919472" y="1682496"/>
            <a:ext cx="3822192" cy="1600200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1A2456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5" name="Text 16"/>
          <p:cNvSpPr/>
          <p:nvPr/>
        </p:nvSpPr>
        <p:spPr>
          <a:xfrm>
            <a:off x="5102352" y="17739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in 10 seconds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5102352" y="2084832"/>
            <a:ext cx="3456432" cy="877824"/>
          </a:xfrm>
          <a:prstGeom prst="rect">
            <a:avLst/>
          </a:prstGeom>
          <a:solidFill>
            <a:srgbClr val="070A1A">
              <a:alpha val="90000"/>
            </a:srgbClr>
          </a:solidFill>
          <a:ln w="5715">
            <a:solidFill>
              <a:srgbClr val="1A2456">
                <a:alpha val="65000"/>
              </a:srgbClr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5193792" y="2139696"/>
            <a:ext cx="32735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add @uibrium/ui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framer-motion lucide-react</a:t>
            </a:r>
            <a:endParaRPr lang="en-US" sz="950" dirty="0"/>
          </a:p>
        </p:txBody>
      </p:sp>
      <p:sp>
        <p:nvSpPr>
          <p:cNvPr id="28" name="Shape 19"/>
          <p:cNvSpPr/>
          <p:nvPr/>
        </p:nvSpPr>
        <p:spPr>
          <a:xfrm>
            <a:off x="4919472" y="3383280"/>
            <a:ext cx="3822192" cy="1545336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1A2456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9" name="Text 20"/>
          <p:cNvSpPr/>
          <p:nvPr/>
        </p:nvSpPr>
        <p:spPr>
          <a:xfrm>
            <a:off x="5102352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</a:t>
            </a:r>
            <a:endParaRPr lang="en-US" sz="11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3785616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394960" y="3758184"/>
            <a:ext cx="3127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18+ developers</a:t>
            </a:r>
            <a:endParaRPr lang="en-US" sz="105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352" y="4059936"/>
            <a:ext cx="201168" cy="20116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394960" y="4032504"/>
            <a:ext cx="3127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teams</a:t>
            </a:r>
            <a:endParaRPr lang="en-US" sz="105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4334256"/>
            <a:ext cx="201168" cy="20116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394960" y="4306824"/>
            <a:ext cx="3127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&amp; SaaS builders</a:t>
            </a:r>
            <a:endParaRPr lang="en-US" sz="105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2352" y="4608576"/>
            <a:ext cx="201168" cy="20116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5394960" y="4581144"/>
            <a:ext cx="3127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contributors</a:t>
            </a:r>
            <a:endParaRPr lang="en-US" sz="1050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016" y="449832"/>
            <a:ext cx="1755648" cy="4135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029200" cy="5029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4114800" cy="4114800"/>
          </a:xfrm>
          <a:prstGeom prst="ellipse">
            <a:avLst/>
          </a:prstGeom>
          <a:solidFill>
            <a:srgbClr val="6366F1">
              <a:alpha val="7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0"/>
            <a:ext cx="4572000" cy="4572000"/>
          </a:xfrm>
          <a:prstGeom prst="ellipse">
            <a:avLst/>
          </a:prstGeom>
          <a:solidFill>
            <a:srgbClr val="7C3AED">
              <a:alpha val="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228600"/>
            <a:ext cx="1271016" cy="237744"/>
          </a:xfrm>
          <a:prstGeom prst="rect">
            <a:avLst/>
          </a:prstGeom>
          <a:solidFill>
            <a:srgbClr val="A855F7">
              <a:alpha val="22000"/>
            </a:srgbClr>
          </a:solidFill>
          <a:ln w="8255">
            <a:solidFill>
              <a:srgbClr val="A855F7">
                <a:alpha val="5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22860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UIBRIUM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Uibrium Stacks Up.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3167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comparison — no marketing spin. Uibrium highlights what's uniquely yours.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" y="1581912"/>
            <a:ext cx="2651760" cy="292608"/>
          </a:xfrm>
          <a:prstGeom prst="rect">
            <a:avLst/>
          </a:prstGeom>
          <a:solidFill>
            <a:srgbClr val="141B42">
              <a:alpha val="45000"/>
            </a:srgbClr>
          </a:solidFill>
          <a:ln w="6350">
            <a:solidFill>
              <a:srgbClr val="1A2456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5819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</a:rPr>
              <a:t>Feature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099816" y="1581912"/>
            <a:ext cx="1261872" cy="292608"/>
          </a:xfrm>
          <a:prstGeom prst="rect">
            <a:avLst/>
          </a:prstGeom>
          <a:solidFill>
            <a:srgbClr val="141B42">
              <a:alpha val="45000"/>
            </a:srgbClr>
          </a:solidFill>
          <a:ln w="6350">
            <a:solidFill>
              <a:srgbClr val="1A2456">
                <a:alpha val="5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99816" y="158191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</a:rPr>
              <a:t>shadcn/ui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98264" y="1581912"/>
            <a:ext cx="896112" cy="292608"/>
          </a:xfrm>
          <a:prstGeom prst="rect">
            <a:avLst/>
          </a:prstGeom>
          <a:solidFill>
            <a:srgbClr val="141B42">
              <a:alpha val="45000"/>
            </a:srgbClr>
          </a:solidFill>
          <a:ln w="6350">
            <a:solidFill>
              <a:srgbClr val="1A2456">
                <a:alpha val="5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98264" y="158191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</a:rPr>
              <a:t>MUI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330952" y="1581912"/>
            <a:ext cx="1024128" cy="292608"/>
          </a:xfrm>
          <a:prstGeom prst="rect">
            <a:avLst/>
          </a:prstGeom>
          <a:solidFill>
            <a:srgbClr val="141B42">
              <a:alpha val="45000"/>
            </a:srgbClr>
          </a:solidFill>
          <a:ln w="6350">
            <a:solidFill>
              <a:srgbClr val="1A2456">
                <a:alpha val="5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30952" y="158191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</a:rPr>
              <a:t>Chakra UI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91656" y="1581912"/>
            <a:ext cx="1481328" cy="292608"/>
          </a:xfrm>
          <a:prstGeom prst="rect">
            <a:avLst/>
          </a:prstGeom>
          <a:solidFill>
            <a:srgbClr val="7C3AED">
              <a:alpha val="78000"/>
            </a:srgbClr>
          </a:solidFill>
          <a:ln w="6350">
            <a:solidFill>
              <a:srgbClr val="1A2456">
                <a:alpha val="5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91656" y="158191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Uibrium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11480" y="1920240"/>
            <a:ext cx="2651760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F0"/>
                </a:solidFill>
              </a:rPr>
              <a:t>Open Source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099816" y="1920240"/>
            <a:ext cx="1261872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99816" y="192024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</a:rPr>
              <a:t>✓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398264" y="1920240"/>
            <a:ext cx="896112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98264" y="192024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</a:rPr>
              <a:t>✓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330952" y="1920240"/>
            <a:ext cx="1024128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30952" y="19202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</a:rPr>
              <a:t>✓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391656" y="1920240"/>
            <a:ext cx="1481328" cy="274320"/>
          </a:xfrm>
          <a:prstGeom prst="rect">
            <a:avLst/>
          </a:prstGeom>
          <a:solidFill>
            <a:srgbClr val="051F0D">
              <a:alpha val="70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91656" y="19202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</a:rPr>
              <a:t>✓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11480" y="2203704"/>
            <a:ext cx="2651760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22037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F0"/>
                </a:solidFill>
              </a:rPr>
              <a:t>Radix UI Primitives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099816" y="2203704"/>
            <a:ext cx="1261872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099816" y="220370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</a:rPr>
              <a:t>✓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398264" y="2203704"/>
            <a:ext cx="896112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398264" y="220370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</a:rPr>
              <a:t>✗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330952" y="2203704"/>
            <a:ext cx="1024128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30952" y="220370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</a:rPr>
              <a:t>✗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391656" y="2203704"/>
            <a:ext cx="1481328" cy="274320"/>
          </a:xfrm>
          <a:prstGeom prst="rect">
            <a:avLst/>
          </a:prstGeom>
          <a:solidFill>
            <a:srgbClr val="051F0D">
              <a:alpha val="70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91656" y="220370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</a:rPr>
              <a:t>✓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11480" y="2487168"/>
            <a:ext cx="2651760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2487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F0"/>
                </a:solidFill>
              </a:rPr>
              <a:t>Built-in Animations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3099816" y="2487168"/>
            <a:ext cx="1261872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099816" y="24871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</a:rPr>
              <a:t>✗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398264" y="2487168"/>
            <a:ext cx="896112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398264" y="248716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</a:rPr>
              <a:t>✗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5330952" y="2487168"/>
            <a:ext cx="1024128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30952" y="24871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F0"/>
                </a:solidFill>
              </a:rPr>
              <a:t>Partial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6391656" y="2487168"/>
            <a:ext cx="1481328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391656" y="24871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8AB5"/>
                </a:solidFill>
              </a:rPr>
              <a:t>✓ Framer Motion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11480" y="2770632"/>
            <a:ext cx="2651760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11480" y="2770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F0"/>
                </a:solidFill>
              </a:rPr>
              <a:t>Premium Cursor &amp; FX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099816" y="2770632"/>
            <a:ext cx="1261872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099816" y="27706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</a:rPr>
              <a:t>✗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4398264" y="2770632"/>
            <a:ext cx="896112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398264" y="277063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</a:rPr>
              <a:t>✗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5330952" y="2770632"/>
            <a:ext cx="1024128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30952" y="27706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</a:rPr>
              <a:t>✗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6391656" y="2770632"/>
            <a:ext cx="1481328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391656" y="27706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8AB5"/>
                </a:solidFill>
              </a:rPr>
              <a:t>✓ Unique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411480" y="3054096"/>
            <a:ext cx="2651760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11480" y="30540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F0"/>
                </a:solidFill>
              </a:rPr>
              <a:t>Full TypeScript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3099816" y="3054096"/>
            <a:ext cx="1261872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099816" y="305409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</a:rPr>
              <a:t>✓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4398264" y="3054096"/>
            <a:ext cx="896112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398264" y="305409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</a:rPr>
              <a:t>✓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5330952" y="3054096"/>
            <a:ext cx="1024128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30952" y="305409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</a:rPr>
              <a:t>✓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6391656" y="3054096"/>
            <a:ext cx="1481328" cy="274320"/>
          </a:xfrm>
          <a:prstGeom prst="rect">
            <a:avLst/>
          </a:prstGeom>
          <a:solidFill>
            <a:srgbClr val="051F0D">
              <a:alpha val="70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391656" y="305409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</a:rPr>
              <a:t>✓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411480" y="3337560"/>
            <a:ext cx="2651760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11480" y="3337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F0"/>
                </a:solidFill>
              </a:rPr>
              <a:t>Tree-Shaking Ready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3099816" y="3337560"/>
            <a:ext cx="1261872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3099816" y="33375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</a:rPr>
              <a:t>✓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4398264" y="3337560"/>
            <a:ext cx="896112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398264" y="333756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F0"/>
                </a:solidFill>
              </a:rPr>
              <a:t>Partial</a:t>
            </a:r>
            <a:endParaRPr lang="en-US" sz="850" dirty="0"/>
          </a:p>
        </p:txBody>
      </p:sp>
      <p:sp>
        <p:nvSpPr>
          <p:cNvPr id="76" name="Shape 73"/>
          <p:cNvSpPr/>
          <p:nvPr/>
        </p:nvSpPr>
        <p:spPr>
          <a:xfrm>
            <a:off x="5330952" y="3337560"/>
            <a:ext cx="1024128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30952" y="333756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</a:rPr>
              <a:t>✓</a:t>
            </a:r>
            <a:endParaRPr lang="en-US" sz="850" dirty="0"/>
          </a:p>
        </p:txBody>
      </p:sp>
      <p:sp>
        <p:nvSpPr>
          <p:cNvPr id="78" name="Shape 75"/>
          <p:cNvSpPr/>
          <p:nvPr/>
        </p:nvSpPr>
        <p:spPr>
          <a:xfrm>
            <a:off x="6391656" y="3337560"/>
            <a:ext cx="1481328" cy="274320"/>
          </a:xfrm>
          <a:prstGeom prst="rect">
            <a:avLst/>
          </a:prstGeom>
          <a:solidFill>
            <a:srgbClr val="051F0D">
              <a:alpha val="70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391656" y="33375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</a:rPr>
              <a:t>✓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411480" y="3621024"/>
            <a:ext cx="2651760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411480" y="36210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F0"/>
                </a:solidFill>
              </a:rPr>
              <a:t>HSL Token System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3099816" y="3621024"/>
            <a:ext cx="1261872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099816" y="362102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</a:rPr>
              <a:t>✗</a:t>
            </a:r>
            <a:endParaRPr lang="en-US" sz="850" dirty="0"/>
          </a:p>
        </p:txBody>
      </p:sp>
      <p:sp>
        <p:nvSpPr>
          <p:cNvPr id="84" name="Shape 81"/>
          <p:cNvSpPr/>
          <p:nvPr/>
        </p:nvSpPr>
        <p:spPr>
          <a:xfrm>
            <a:off x="4398264" y="3621024"/>
            <a:ext cx="896112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4398264" y="362102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</a:rPr>
              <a:t>✗</a:t>
            </a:r>
            <a:endParaRPr lang="en-US" sz="850" dirty="0"/>
          </a:p>
        </p:txBody>
      </p:sp>
      <p:sp>
        <p:nvSpPr>
          <p:cNvPr id="86" name="Shape 83"/>
          <p:cNvSpPr/>
          <p:nvPr/>
        </p:nvSpPr>
        <p:spPr>
          <a:xfrm>
            <a:off x="5330952" y="3621024"/>
            <a:ext cx="1024128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330952" y="362102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</a:rPr>
              <a:t>✗</a:t>
            </a:r>
            <a:endParaRPr lang="en-US" sz="850" dirty="0"/>
          </a:p>
        </p:txBody>
      </p:sp>
      <p:sp>
        <p:nvSpPr>
          <p:cNvPr id="88" name="Shape 85"/>
          <p:cNvSpPr/>
          <p:nvPr/>
        </p:nvSpPr>
        <p:spPr>
          <a:xfrm>
            <a:off x="6391656" y="3621024"/>
            <a:ext cx="1481328" cy="274320"/>
          </a:xfrm>
          <a:prstGeom prst="rect">
            <a:avLst/>
          </a:prstGeom>
          <a:solidFill>
            <a:srgbClr val="051F0D">
              <a:alpha val="70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6391656" y="362102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</a:rPr>
              <a:t>✓</a:t>
            </a:r>
            <a:endParaRPr lang="en-US" sz="850" dirty="0"/>
          </a:p>
        </p:txBody>
      </p:sp>
      <p:sp>
        <p:nvSpPr>
          <p:cNvPr id="90" name="Shape 87"/>
          <p:cNvSpPr/>
          <p:nvPr/>
        </p:nvSpPr>
        <p:spPr>
          <a:xfrm>
            <a:off x="411480" y="3904488"/>
            <a:ext cx="2651760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411480" y="3904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F0"/>
                </a:solidFill>
              </a:rPr>
              <a:t>Sensory Engineering</a:t>
            </a:r>
            <a:endParaRPr lang="en-US" sz="900" dirty="0"/>
          </a:p>
        </p:txBody>
      </p:sp>
      <p:sp>
        <p:nvSpPr>
          <p:cNvPr id="92" name="Shape 89"/>
          <p:cNvSpPr/>
          <p:nvPr/>
        </p:nvSpPr>
        <p:spPr>
          <a:xfrm>
            <a:off x="3099816" y="3904488"/>
            <a:ext cx="1261872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3099816" y="39044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</a:rPr>
              <a:t>✗</a:t>
            </a:r>
            <a:endParaRPr lang="en-US" sz="850" dirty="0"/>
          </a:p>
        </p:txBody>
      </p:sp>
      <p:sp>
        <p:nvSpPr>
          <p:cNvPr id="94" name="Shape 91"/>
          <p:cNvSpPr/>
          <p:nvPr/>
        </p:nvSpPr>
        <p:spPr>
          <a:xfrm>
            <a:off x="4398264" y="3904488"/>
            <a:ext cx="896112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4398264" y="39044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</a:rPr>
              <a:t>✗</a:t>
            </a:r>
            <a:endParaRPr 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5330952" y="3904488"/>
            <a:ext cx="1024128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330952" y="39044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</a:rPr>
              <a:t>✗</a:t>
            </a:r>
            <a:endParaRPr lang="en-US" sz="850" dirty="0"/>
          </a:p>
        </p:txBody>
      </p:sp>
      <p:sp>
        <p:nvSpPr>
          <p:cNvPr id="98" name="Shape 95"/>
          <p:cNvSpPr/>
          <p:nvPr/>
        </p:nvSpPr>
        <p:spPr>
          <a:xfrm>
            <a:off x="6391656" y="3904488"/>
            <a:ext cx="1481328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6391656" y="39044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8AB5"/>
                </a:solidFill>
              </a:rPr>
              <a:t>✓ Exclusive</a:t>
            </a:r>
            <a:endParaRPr lang="en-US" sz="850" dirty="0"/>
          </a:p>
        </p:txBody>
      </p:sp>
      <p:sp>
        <p:nvSpPr>
          <p:cNvPr id="100" name="Shape 97"/>
          <p:cNvSpPr/>
          <p:nvPr/>
        </p:nvSpPr>
        <p:spPr>
          <a:xfrm>
            <a:off x="411480" y="4187952"/>
            <a:ext cx="2651760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411480" y="4187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F0"/>
                </a:solidFill>
              </a:rPr>
              <a:t>Auto Storybook Docs</a:t>
            </a:r>
            <a:endParaRPr lang="en-US" sz="900" dirty="0"/>
          </a:p>
        </p:txBody>
      </p:sp>
      <p:sp>
        <p:nvSpPr>
          <p:cNvPr id="102" name="Shape 99"/>
          <p:cNvSpPr/>
          <p:nvPr/>
        </p:nvSpPr>
        <p:spPr>
          <a:xfrm>
            <a:off x="3099816" y="4187952"/>
            <a:ext cx="1261872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3099816" y="418795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</a:rPr>
              <a:t>✗</a:t>
            </a:r>
            <a:endParaRPr lang="en-US" sz="850" dirty="0"/>
          </a:p>
        </p:txBody>
      </p:sp>
      <p:sp>
        <p:nvSpPr>
          <p:cNvPr id="104" name="Shape 101"/>
          <p:cNvSpPr/>
          <p:nvPr/>
        </p:nvSpPr>
        <p:spPr>
          <a:xfrm>
            <a:off x="4398264" y="4187952"/>
            <a:ext cx="896112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4398264" y="418795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</a:rPr>
              <a:t>✗</a:t>
            </a:r>
            <a:endParaRPr lang="en-US" sz="850" dirty="0"/>
          </a:p>
        </p:txBody>
      </p:sp>
      <p:sp>
        <p:nvSpPr>
          <p:cNvPr id="106" name="Shape 103"/>
          <p:cNvSpPr/>
          <p:nvPr/>
        </p:nvSpPr>
        <p:spPr>
          <a:xfrm>
            <a:off x="5330952" y="4187952"/>
            <a:ext cx="1024128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5330952" y="418795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</a:rPr>
              <a:t>✗</a:t>
            </a:r>
            <a:endParaRPr lang="en-US" sz="850" dirty="0"/>
          </a:p>
        </p:txBody>
      </p:sp>
      <p:sp>
        <p:nvSpPr>
          <p:cNvPr id="108" name="Shape 105"/>
          <p:cNvSpPr/>
          <p:nvPr/>
        </p:nvSpPr>
        <p:spPr>
          <a:xfrm>
            <a:off x="6391656" y="4187952"/>
            <a:ext cx="1481328" cy="274320"/>
          </a:xfrm>
          <a:prstGeom prst="rect">
            <a:avLst/>
          </a:prstGeom>
          <a:solidFill>
            <a:srgbClr val="051F0D">
              <a:alpha val="70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6391656" y="41879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</a:rPr>
              <a:t>✓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411480" y="4471416"/>
            <a:ext cx="2651760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411480" y="4471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F0"/>
                </a:solidFill>
              </a:rPr>
              <a:t>System Dark Mode</a:t>
            </a:r>
            <a:endParaRPr lang="en-US" sz="900" dirty="0"/>
          </a:p>
        </p:txBody>
      </p:sp>
      <p:sp>
        <p:nvSpPr>
          <p:cNvPr id="112" name="Shape 109"/>
          <p:cNvSpPr/>
          <p:nvPr/>
        </p:nvSpPr>
        <p:spPr>
          <a:xfrm>
            <a:off x="3099816" y="4471416"/>
            <a:ext cx="1261872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3099816" y="447141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F0"/>
                </a:solidFill>
              </a:rPr>
              <a:t>Manual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4398264" y="4471416"/>
            <a:ext cx="896112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4398264" y="447141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</a:rPr>
              <a:t>✓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5330952" y="4471416"/>
            <a:ext cx="1024128" cy="274320"/>
          </a:xfrm>
          <a:prstGeom prst="rect">
            <a:avLst/>
          </a:prstGeom>
          <a:solidFill>
            <a:srgbClr val="070A1A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5330952" y="447141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</a:rPr>
              <a:t>✓</a:t>
            </a:r>
            <a:endParaRPr lang="en-US" sz="850" dirty="0"/>
          </a:p>
        </p:txBody>
      </p:sp>
      <p:sp>
        <p:nvSpPr>
          <p:cNvPr id="118" name="Shape 115"/>
          <p:cNvSpPr/>
          <p:nvPr/>
        </p:nvSpPr>
        <p:spPr>
          <a:xfrm>
            <a:off x="6391656" y="4471416"/>
            <a:ext cx="1481328" cy="274320"/>
          </a:xfrm>
          <a:prstGeom prst="rect">
            <a:avLst/>
          </a:prstGeom>
          <a:solidFill>
            <a:srgbClr val="0D1230">
              <a:alpha val="38000"/>
            </a:srgbClr>
          </a:solidFill>
          <a:ln w="3810">
            <a:solidFill>
              <a:srgbClr val="1A2456">
                <a:alpha val="35000"/>
              </a:srgbClr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6391656" y="44714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8AB5"/>
                </a:solidFill>
              </a:rPr>
              <a:t>✓ Auto</a:t>
            </a:r>
            <a:endParaRPr lang="en-US" sz="850" dirty="0"/>
          </a:p>
        </p:txBody>
      </p:sp>
      <p:pic>
        <p:nvPicPr>
          <p:cNvPr id="121" name="Picture 1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152" y="466344"/>
            <a:ext cx="1755648" cy="4135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029200" cy="5029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4114800" cy="4114800"/>
          </a:xfrm>
          <a:prstGeom prst="ellipse">
            <a:avLst/>
          </a:prstGeom>
          <a:solidFill>
            <a:srgbClr val="6366F1">
              <a:alpha val="7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457200"/>
            <a:ext cx="4114800" cy="4114800"/>
          </a:xfrm>
          <a:prstGeom prst="ellipse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891B2">
              <a:alpha val="6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228600"/>
            <a:ext cx="1600200" cy="237744"/>
          </a:xfrm>
          <a:prstGeom prst="rect">
            <a:avLst/>
          </a:prstGeom>
          <a:solidFill>
            <a:srgbClr val="A855F7">
              <a:alpha val="22000"/>
            </a:srgbClr>
          </a:solidFill>
          <a:ln w="8255">
            <a:solidFill>
              <a:srgbClr val="A855F7">
                <a:alpha val="5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286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PHILOSOPHY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Pillars of the</a:t>
            </a:r>
            <a:endParaRPr lang="en-US" sz="3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Uibrium Design Sanctuary.</a:t>
            </a:r>
            <a:endParaRPr lang="en-US" sz="3100" dirty="0"/>
          </a:p>
        </p:txBody>
      </p:sp>
      <p:sp>
        <p:nvSpPr>
          <p:cNvPr id="10" name="Shape 7"/>
          <p:cNvSpPr/>
          <p:nvPr/>
        </p:nvSpPr>
        <p:spPr>
          <a:xfrm>
            <a:off x="384048" y="1737360"/>
            <a:ext cx="1581912" cy="2944368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A855F7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4048" y="1737360"/>
            <a:ext cx="1581912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5548" y="1819656"/>
            <a:ext cx="438912" cy="438912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20" y="1911828"/>
            <a:ext cx="254569" cy="25456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129284" y="2359152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2505456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75488" y="2834640"/>
            <a:ext cx="139903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Symmetrical architecture. Every spacing, token &amp; size decision is intentional and deterministic.</a:t>
            </a:r>
            <a:endParaRPr lang="en-US" sz="850" b="1" dirty="0"/>
          </a:p>
        </p:txBody>
      </p:sp>
      <p:sp>
        <p:nvSpPr>
          <p:cNvPr id="17" name="Shape 13"/>
          <p:cNvSpPr/>
          <p:nvPr/>
        </p:nvSpPr>
        <p:spPr>
          <a:xfrm>
            <a:off x="2121408" y="1737360"/>
            <a:ext cx="1581912" cy="2944368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6366F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121408" y="1737360"/>
            <a:ext cx="1581912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692908" y="1819656"/>
            <a:ext cx="438912" cy="438912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080" y="1911828"/>
            <a:ext cx="254569" cy="254569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866644" y="2359152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194560" y="2505456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2212848" y="2834640"/>
            <a:ext cx="139903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primitives. Build any interface from isolated, tested, independent building blocks.</a:t>
            </a:r>
            <a:endParaRPr lang="en-US" sz="850" b="1" dirty="0"/>
          </a:p>
        </p:txBody>
      </p:sp>
      <p:sp>
        <p:nvSpPr>
          <p:cNvPr id="24" name="Shape 19"/>
          <p:cNvSpPr/>
          <p:nvPr/>
        </p:nvSpPr>
        <p:spPr>
          <a:xfrm>
            <a:off x="3858768" y="1737360"/>
            <a:ext cx="1581912" cy="2944368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22D3EE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858768" y="1737360"/>
            <a:ext cx="1581912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430268" y="1819656"/>
            <a:ext cx="438912" cy="438912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2440" y="1911828"/>
            <a:ext cx="254569" cy="254569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4604004" y="235915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931920" y="2505456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3950208" y="2834640"/>
            <a:ext cx="139903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system + className overrides + asChild. Your design, your brand, your rules.</a:t>
            </a:r>
            <a:endParaRPr lang="en-US" sz="850" b="1" dirty="0"/>
          </a:p>
        </p:txBody>
      </p:sp>
      <p:sp>
        <p:nvSpPr>
          <p:cNvPr id="31" name="Shape 25"/>
          <p:cNvSpPr/>
          <p:nvPr/>
        </p:nvSpPr>
        <p:spPr>
          <a:xfrm>
            <a:off x="5596128" y="1737360"/>
            <a:ext cx="1581912" cy="2944368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10B98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5596128" y="1737360"/>
            <a:ext cx="1581912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167628" y="1819656"/>
            <a:ext cx="438912" cy="438912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800" y="1911828"/>
            <a:ext cx="254569" cy="254569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341364" y="235915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669280" y="2505456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5687568" y="2834640"/>
            <a:ext cx="139903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= zero runtime CSS. Framer Motion = GPU-only animations. Nothing wasted.</a:t>
            </a:r>
            <a:endParaRPr lang="en-US" sz="850" b="1" dirty="0"/>
          </a:p>
        </p:txBody>
      </p:sp>
      <p:sp>
        <p:nvSpPr>
          <p:cNvPr id="38" name="Shape 31"/>
          <p:cNvSpPr/>
          <p:nvPr/>
        </p:nvSpPr>
        <p:spPr>
          <a:xfrm>
            <a:off x="7333488" y="1737360"/>
            <a:ext cx="1581912" cy="2944368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FBBF24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7333488" y="1737360"/>
            <a:ext cx="1581912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7904988" y="1819656"/>
            <a:ext cx="438912" cy="438912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7160" y="1911828"/>
            <a:ext cx="254569" cy="254569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8078724" y="23591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7406640" y="2505456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150" dirty="0"/>
          </a:p>
        </p:txBody>
      </p:sp>
      <p:sp>
        <p:nvSpPr>
          <p:cNvPr id="44" name="Text 36"/>
          <p:cNvSpPr/>
          <p:nvPr/>
        </p:nvSpPr>
        <p:spPr>
          <a:xfrm>
            <a:off x="7424928" y="2834640"/>
            <a:ext cx="139903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 UI + WAI-ARIA 2.1. Full keyboard navigation. Screen reader tested. No one left behind.</a:t>
            </a:r>
            <a:endParaRPr lang="en-US" sz="850" b="1" dirty="0"/>
          </a:p>
        </p:txBody>
      </p:sp>
      <p:sp>
        <p:nvSpPr>
          <p:cNvPr id="45" name="Text 37"/>
          <p:cNvSpPr/>
          <p:nvPr/>
        </p:nvSpPr>
        <p:spPr>
          <a:xfrm>
            <a:off x="457200" y="4773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"Balanced UI. Infinite Possibilities."</a:t>
            </a:r>
            <a:endParaRPr lang="en-US" sz="950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152" y="530352"/>
            <a:ext cx="1755648" cy="4135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029200" cy="5029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4114800" cy="4114800"/>
          </a:xfrm>
          <a:prstGeom prst="ellipse">
            <a:avLst/>
          </a:prstGeom>
          <a:solidFill>
            <a:srgbClr val="6366F1">
              <a:alpha val="7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114800" y="457200"/>
            <a:ext cx="5029200" cy="5029200"/>
          </a:xfrm>
          <a:prstGeom prst="ellipse">
            <a:avLst/>
          </a:prstGeom>
          <a:solidFill>
            <a:srgbClr val="4338CA">
              <a:alpha val="7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38912" y="228600"/>
            <a:ext cx="1353312" cy="237744"/>
          </a:xfrm>
          <a:prstGeom prst="rect">
            <a:avLst/>
          </a:prstGeom>
          <a:solidFill>
            <a:srgbClr val="A855F7">
              <a:alpha val="22000"/>
            </a:srgbClr>
          </a:solidFill>
          <a:ln w="8255">
            <a:solidFill>
              <a:srgbClr val="A855F7">
                <a:alpha val="5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22860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Layered Architecture.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3167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production. Structured for scale. Every layer has exactly one responsibility.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143000" y="1682496"/>
            <a:ext cx="6858000" cy="384048"/>
          </a:xfrm>
          <a:prstGeom prst="rect">
            <a:avLst/>
          </a:prstGeom>
          <a:solidFill>
            <a:srgbClr val="A855F7">
              <a:alpha val="95000"/>
            </a:srgbClr>
          </a:solidFill>
          <a:ln w="6350">
            <a:solidFill>
              <a:srgbClr val="A855F7">
                <a:alpha val="7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16824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325880" y="2130552"/>
            <a:ext cx="6492240" cy="384048"/>
          </a:xfrm>
          <a:prstGeom prst="rect">
            <a:avLst/>
          </a:prstGeom>
          <a:solidFill>
            <a:srgbClr val="7C3AED">
              <a:alpha val="95000"/>
            </a:srgbClr>
          </a:solidFill>
          <a:ln w="6350">
            <a:solidFill>
              <a:srgbClr val="7C3AED">
                <a:alpha val="7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25880" y="213055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ThemeProvider  ·  Dark / Light Mode System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508760" y="2578608"/>
            <a:ext cx="6126480" cy="384048"/>
          </a:xfrm>
          <a:prstGeom prst="rect">
            <a:avLst/>
          </a:prstGeom>
          <a:solidFill>
            <a:srgbClr val="6366F1">
              <a:alpha val="95000"/>
            </a:srgbClr>
          </a:solidFill>
          <a:ln w="6350">
            <a:solidFill>
              <a:srgbClr val="6366F1">
                <a:alpha val="7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08760" y="25786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@uibrium/ui  —  19 Production Components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691640" y="3026664"/>
            <a:ext cx="5760720" cy="384048"/>
          </a:xfrm>
          <a:prstGeom prst="rect">
            <a:avLst/>
          </a:prstGeom>
          <a:solidFill>
            <a:srgbClr val="1D4ED8">
              <a:alpha val="88000"/>
            </a:srgbClr>
          </a:solidFill>
          <a:ln w="6350">
            <a:solidFill>
              <a:srgbClr val="1D4ED8">
                <a:alpha val="4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91640" y="302666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 ·  Lucide React  ·  Radix UI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874520" y="3474720"/>
            <a:ext cx="5394960" cy="384048"/>
          </a:xfrm>
          <a:prstGeom prst="rect">
            <a:avLst/>
          </a:prstGeom>
          <a:solidFill>
            <a:srgbClr val="141B42">
              <a:alpha val="88000"/>
            </a:srgbClr>
          </a:solidFill>
          <a:ln w="6350">
            <a:solidFill>
              <a:srgbClr val="141B42">
                <a:alpha val="48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74520" y="34747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 —  HSL Design Tokens  ·  Utilities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057400" y="3922776"/>
            <a:ext cx="5029200" cy="384048"/>
          </a:xfrm>
          <a:prstGeom prst="rect">
            <a:avLst/>
          </a:prstGeom>
          <a:solidFill>
            <a:srgbClr val="070A1A">
              <a:alpha val="88000"/>
            </a:srgbClr>
          </a:solidFill>
          <a:ln w="6350">
            <a:solidFill>
              <a:srgbClr val="070A1A">
                <a:alpha val="4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057400" y="39227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·  TypeScript  ·  Hooks  ·  Vite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059168" y="1682496"/>
            <a:ext cx="1682496" cy="2651760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6366F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150608" y="181051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662672" y="181051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@uibrium/ui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150608" y="220370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662672" y="220370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1.0.0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150608" y="259689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662672" y="259689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19+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150608" y="299008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662672" y="299008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150608" y="338328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62672" y="338328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150608" y="377647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662672" y="377647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850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592" y="4596504"/>
            <a:ext cx="1755648" cy="4135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029200" cy="5029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4114800" cy="4114800"/>
          </a:xfrm>
          <a:prstGeom prst="ellipse">
            <a:avLst/>
          </a:prstGeom>
          <a:solidFill>
            <a:srgbClr val="6366F1">
              <a:alpha val="7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891B2">
              <a:alpha val="8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228600"/>
            <a:ext cx="1435608" cy="237744"/>
          </a:xfrm>
          <a:prstGeom prst="rect">
            <a:avLst/>
          </a:prstGeom>
          <a:solidFill>
            <a:srgbClr val="A855F7">
              <a:alpha val="22000"/>
            </a:srgbClr>
          </a:solidFill>
          <a:ln w="8255">
            <a:solidFill>
              <a:srgbClr val="A855F7">
                <a:alpha val="5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228600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Theming, Dark Mode —</a:t>
            </a:r>
            <a:endParaRPr lang="en-US" sz="3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In.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402336" y="1600200"/>
            <a:ext cx="969264" cy="502920"/>
          </a:xfrm>
          <a:prstGeom prst="rect">
            <a:avLst/>
          </a:prstGeom>
          <a:solidFill>
            <a:srgbClr val="4338CA"/>
          </a:solidFill>
          <a:ln w="3810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2336" y="213055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Indigo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499616" y="1600200"/>
            <a:ext cx="969264" cy="502920"/>
          </a:xfrm>
          <a:prstGeom prst="rect">
            <a:avLst/>
          </a:prstGeom>
          <a:solidFill>
            <a:srgbClr val="7C3AED"/>
          </a:solidFill>
          <a:ln w="3810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99616" y="213055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96896" y="1600200"/>
            <a:ext cx="969264" cy="502920"/>
          </a:xfrm>
          <a:prstGeom prst="rect">
            <a:avLst/>
          </a:prstGeom>
          <a:solidFill>
            <a:srgbClr val="A855F7"/>
          </a:solidFill>
          <a:ln w="3810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96896" y="213055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694176" y="1600200"/>
            <a:ext cx="969264" cy="502920"/>
          </a:xfrm>
          <a:prstGeom prst="rect">
            <a:avLst/>
          </a:prstGeom>
          <a:solidFill>
            <a:srgbClr val="1D4ED8"/>
          </a:solidFill>
          <a:ln w="3810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94176" y="213055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791456" y="1600200"/>
            <a:ext cx="969264" cy="502920"/>
          </a:xfrm>
          <a:prstGeom prst="rect">
            <a:avLst/>
          </a:prstGeom>
          <a:solidFill>
            <a:srgbClr val="0891B2"/>
          </a:solidFill>
          <a:ln w="3810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91456" y="213055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888736" y="1600200"/>
            <a:ext cx="969264" cy="502920"/>
          </a:xfrm>
          <a:prstGeom prst="rect">
            <a:avLst/>
          </a:prstGeom>
          <a:solidFill>
            <a:srgbClr val="059669"/>
          </a:solidFill>
          <a:ln w="3810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88736" y="213055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986016" y="1600200"/>
            <a:ext cx="969264" cy="502920"/>
          </a:xfrm>
          <a:prstGeom prst="rect">
            <a:avLst/>
          </a:prstGeom>
          <a:solidFill>
            <a:srgbClr val="D97706"/>
          </a:solidFill>
          <a:ln w="3810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86016" y="213055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8083296" y="1600200"/>
            <a:ext cx="969264" cy="502920"/>
          </a:xfrm>
          <a:prstGeom prst="rect">
            <a:avLst/>
          </a:prstGeom>
          <a:solidFill>
            <a:srgbClr val="DC2626"/>
          </a:solidFill>
          <a:ln w="3810">
            <a:solidFill>
              <a:srgbClr val="000000">
                <a:alpha val="2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83296" y="213055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20624" y="2487168"/>
            <a:ext cx="4041648" cy="1170432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A855F7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20624" y="2487168"/>
            <a:ext cx="50292" cy="1170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30352" y="2533320"/>
            <a:ext cx="384048" cy="384048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02" y="2613970"/>
            <a:ext cx="222748" cy="22274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042416" y="25786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1042416" y="2889504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xs→5xl. Supports Inter, Space Grotesk, JetBrains Mono. Consistent rhythm.</a:t>
            </a:r>
            <a:endParaRPr lang="en-US" sz="950" b="1" dirty="0"/>
          </a:p>
        </p:txBody>
      </p:sp>
      <p:sp>
        <p:nvSpPr>
          <p:cNvPr id="31" name="Shape 27"/>
          <p:cNvSpPr/>
          <p:nvPr/>
        </p:nvSpPr>
        <p:spPr>
          <a:xfrm>
            <a:off x="4736592" y="2487168"/>
            <a:ext cx="4041648" cy="1170432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22D3EE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>
            <a:off x="4736592" y="2487168"/>
            <a:ext cx="50292" cy="11704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846320" y="2533320"/>
            <a:ext cx="384048" cy="384048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970" y="2613970"/>
            <a:ext cx="222748" cy="22274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358384" y="25786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5358384" y="2889504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4px base unit. Tailwind spacing scale. Padding, margin and gap — always consistent.</a:t>
            </a:r>
            <a:endParaRPr lang="en-US" sz="950" b="1" dirty="0"/>
          </a:p>
        </p:txBody>
      </p:sp>
      <p:sp>
        <p:nvSpPr>
          <p:cNvPr id="37" name="Shape 32"/>
          <p:cNvSpPr/>
          <p:nvPr/>
        </p:nvSpPr>
        <p:spPr>
          <a:xfrm>
            <a:off x="420624" y="3749040"/>
            <a:ext cx="4041648" cy="1170432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6366F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420624" y="3749040"/>
            <a:ext cx="50292" cy="11704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530352" y="3795192"/>
            <a:ext cx="384048" cy="384048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002" y="3875842"/>
            <a:ext cx="222748" cy="22274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1042416" y="38404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150" dirty="0"/>
          </a:p>
        </p:txBody>
      </p:sp>
      <p:sp>
        <p:nvSpPr>
          <p:cNvPr id="42" name="Text 36"/>
          <p:cNvSpPr/>
          <p:nvPr/>
        </p:nvSpPr>
        <p:spPr>
          <a:xfrm>
            <a:off x="1042416" y="4151376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ThemeProvider auto-detects OS preference. Toggle light, dark, or auto at runtime.</a:t>
            </a:r>
            <a:endParaRPr lang="en-US" sz="950" b="1" dirty="0"/>
          </a:p>
        </p:txBody>
      </p:sp>
      <p:sp>
        <p:nvSpPr>
          <p:cNvPr id="43" name="Shape 37"/>
          <p:cNvSpPr/>
          <p:nvPr/>
        </p:nvSpPr>
        <p:spPr>
          <a:xfrm>
            <a:off x="4736592" y="3749040"/>
            <a:ext cx="4041648" cy="1170432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10B98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38"/>
          <p:cNvSpPr/>
          <p:nvPr/>
        </p:nvSpPr>
        <p:spPr>
          <a:xfrm>
            <a:off x="4736592" y="3749040"/>
            <a:ext cx="50292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4846320" y="3795192"/>
            <a:ext cx="384048" cy="384048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6970" y="3875842"/>
            <a:ext cx="222748" cy="222748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5358384" y="38404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HSL Token API</a:t>
            </a:r>
            <a:endParaRPr lang="en-US" sz="1150" dirty="0"/>
          </a:p>
        </p:txBody>
      </p:sp>
      <p:sp>
        <p:nvSpPr>
          <p:cNvPr id="48" name="Text 41"/>
          <p:cNvSpPr/>
          <p:nvPr/>
        </p:nvSpPr>
        <p:spPr>
          <a:xfrm>
            <a:off x="5358384" y="4151376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in CSS HSL variables. Swap entire palettes by adjusting one hue value.</a:t>
            </a:r>
            <a:endParaRPr lang="en-US" sz="950" b="1" dirty="0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456" y="530352"/>
            <a:ext cx="1755648" cy="4135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65376" y="-870010"/>
            <a:ext cx="5029200" cy="5029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1371600"/>
            <a:ext cx="4114800" cy="4114800"/>
          </a:xfrm>
          <a:prstGeom prst="ellipse">
            <a:avLst/>
          </a:prstGeom>
          <a:solidFill>
            <a:srgbClr val="6366F1">
              <a:alpha val="7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0" y="457200"/>
            <a:ext cx="4572000" cy="4572000"/>
          </a:xfrm>
          <a:prstGeom prst="ellipse">
            <a:avLst/>
          </a:prstGeom>
          <a:solidFill>
            <a:srgbClr val="7C3AED">
              <a:alpha val="6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228600"/>
            <a:ext cx="1764792" cy="237744"/>
          </a:xfrm>
          <a:prstGeom prst="rect">
            <a:avLst/>
          </a:prstGeom>
          <a:solidFill>
            <a:srgbClr val="A855F7">
              <a:alpha val="22000"/>
            </a:srgbClr>
          </a:solidFill>
          <a:ln w="8255">
            <a:solidFill>
              <a:srgbClr val="A855F7">
                <a:alpha val="5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228600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LIBRARY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Production-Ready Components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Categories.</a:t>
            </a:r>
            <a:endParaRPr lang="en-US" sz="3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26280"/>
            <a:ext cx="1755648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02336" y="1664208"/>
            <a:ext cx="2761488" cy="1536192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A855F7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02336" y="1664208"/>
            <a:ext cx="2761488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" y="175564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21208" y="2138366"/>
            <a:ext cx="59436" cy="5943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40080" y="206654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21208" y="2357822"/>
            <a:ext cx="59436" cy="5943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22860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21208" y="2577278"/>
            <a:ext cx="59436" cy="5943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25054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21208" y="2796734"/>
            <a:ext cx="59436" cy="5943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272491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21208" y="3016190"/>
            <a:ext cx="59436" cy="5943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29443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346704" y="1664208"/>
            <a:ext cx="2761488" cy="1536192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6366F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3346704" y="1664208"/>
            <a:ext cx="2761488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6432" y="175564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465576" y="2138366"/>
            <a:ext cx="59436" cy="5943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3584448" y="206654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465576" y="2357822"/>
            <a:ext cx="59436" cy="5943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84448" y="22860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Textarea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465576" y="2577278"/>
            <a:ext cx="59436" cy="5943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584448" y="25054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465576" y="2796734"/>
            <a:ext cx="59436" cy="5943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84448" y="272491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291072" y="1664208"/>
            <a:ext cx="2761488" cy="1536192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22D3EE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6291072" y="1664208"/>
            <a:ext cx="2761488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0" y="175564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409944" y="2138366"/>
            <a:ext cx="59436" cy="5943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6528816" y="206654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409944" y="2357822"/>
            <a:ext cx="59436" cy="5943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28816" y="22860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409944" y="2577278"/>
            <a:ext cx="59436" cy="5943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528816" y="25054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6409944" y="2796734"/>
            <a:ext cx="59436" cy="5943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528816" y="272491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02336" y="3328416"/>
            <a:ext cx="2761488" cy="1536192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FBBF24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2"/>
          <p:cNvSpPr/>
          <p:nvPr/>
        </p:nvSpPr>
        <p:spPr>
          <a:xfrm>
            <a:off x="402336" y="3328416"/>
            <a:ext cx="2761488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12064" y="341985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521208" y="3802574"/>
            <a:ext cx="59436" cy="5943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640080" y="37307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521208" y="4022030"/>
            <a:ext cx="59436" cy="5943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40080" y="39502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21208" y="4241486"/>
            <a:ext cx="59436" cy="5943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0080" y="416966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346704" y="3328416"/>
            <a:ext cx="2761488" cy="1536192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10B98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1"/>
          <p:cNvSpPr/>
          <p:nvPr/>
        </p:nvSpPr>
        <p:spPr>
          <a:xfrm>
            <a:off x="3346704" y="3328416"/>
            <a:ext cx="2761488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456432" y="341985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Overlays</a:t>
            </a:r>
            <a:endParaRPr lang="en-US" sz="1150" dirty="0"/>
          </a:p>
        </p:txBody>
      </p:sp>
      <p:sp>
        <p:nvSpPr>
          <p:cNvPr id="56" name="Shape 53"/>
          <p:cNvSpPr/>
          <p:nvPr/>
        </p:nvSpPr>
        <p:spPr>
          <a:xfrm>
            <a:off x="3465576" y="3802574"/>
            <a:ext cx="59436" cy="594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3584448" y="37307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/ Modal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3465576" y="4022030"/>
            <a:ext cx="59436" cy="594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584448" y="39502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Drawer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6291072" y="3328416"/>
            <a:ext cx="2761488" cy="1536192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F8717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8"/>
          <p:cNvSpPr/>
          <p:nvPr/>
        </p:nvSpPr>
        <p:spPr>
          <a:xfrm>
            <a:off x="6291072" y="3328416"/>
            <a:ext cx="2761488" cy="365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400800" y="341985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FX</a:t>
            </a:r>
            <a:endParaRPr lang="en-US" sz="1150" dirty="0"/>
          </a:p>
        </p:txBody>
      </p:sp>
      <p:sp>
        <p:nvSpPr>
          <p:cNvPr id="63" name="Shape 60"/>
          <p:cNvSpPr/>
          <p:nvPr/>
        </p:nvSpPr>
        <p:spPr>
          <a:xfrm>
            <a:off x="6409944" y="3802574"/>
            <a:ext cx="59436" cy="5943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6528816" y="37307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6409944" y="4022030"/>
            <a:ext cx="59436" cy="5943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6528816" y="39502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6409944" y="4241486"/>
            <a:ext cx="59436" cy="5943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528816" y="416966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Cursor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6409944" y="4460942"/>
            <a:ext cx="59436" cy="5943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528816" y="43891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Preloader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029200" cy="5029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4114800" cy="4114800"/>
          </a:xfrm>
          <a:prstGeom prst="ellipse">
            <a:avLst/>
          </a:prstGeom>
          <a:solidFill>
            <a:srgbClr val="6366F1">
              <a:alpha val="7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-457200"/>
            <a:ext cx="5029200" cy="5029200"/>
          </a:xfrm>
          <a:prstGeom prst="ellipse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38912" y="228600"/>
            <a:ext cx="1435608" cy="237744"/>
          </a:xfrm>
          <a:prstGeom prst="rect">
            <a:avLst/>
          </a:prstGeom>
          <a:solidFill>
            <a:srgbClr val="A855F7">
              <a:alpha val="22000"/>
            </a:srgbClr>
          </a:solidFill>
          <a:ln w="8255">
            <a:solidFill>
              <a:srgbClr val="A855F7">
                <a:alpha val="5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228600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is Fully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and Customizable.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20624" y="1682496"/>
            <a:ext cx="4206240" cy="3182112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6366F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" y="17739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usage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85216" y="2066544"/>
            <a:ext cx="3931920" cy="270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Button, Card, Badge }</a:t>
            </a:r>
            <a:r>
              <a:rPr lang="en-US" sz="9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</a:t>
            </a: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'@uibrium/ui';
</a:t>
            </a:r>
            <a:r>
              <a:rPr lang="en-US" sz="9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'@uibrium/ui/styles.css';
&lt;Button
</a:t>
            </a: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variant</a:t>
            </a: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="primary"  </a:t>
            </a: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="lg"
</a:t>
            </a: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className</a:t>
            </a: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="your-class"
</a:t>
            </a:r>
            <a:r>
              <a:rPr lang="en-US" sz="950" dirty="0">
                <a:solidFill>
                  <a:srgbClr val="7A8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asChild
</a:t>
            </a: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onClick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{handleClick}
</a:t>
            </a: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Initiate Equilibrium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73168" y="1682496"/>
            <a:ext cx="4005072" cy="438912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7C3AED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73168" y="1682496"/>
            <a:ext cx="50292" cy="4389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9472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09360" y="173736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· secondary · ghost · outline · destructive + custom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73168" y="2176272"/>
            <a:ext cx="4005072" cy="438912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7C3AED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73168" y="2176272"/>
            <a:ext cx="50292" cy="4389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19472" y="223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09360" y="2231136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 · sm · md · lg · xl — uniform scale across all components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773168" y="2670048"/>
            <a:ext cx="4005072" cy="438912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7C3AED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73168" y="2670048"/>
            <a:ext cx="50292" cy="4389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19472" y="2724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className prop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09360" y="272491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merge. Your classes always win. Zero conflicts.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73168" y="3163824"/>
            <a:ext cx="4005072" cy="438912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7C3AED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73168" y="3163824"/>
            <a:ext cx="50292" cy="4389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19472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asChild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309360" y="321868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as next/link or any wrapper — zero extra DOM nodes.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773168" y="3657600"/>
            <a:ext cx="4005072" cy="438912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7C3AED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773168" y="3657600"/>
            <a:ext cx="50292" cy="4389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19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ThemeProvider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309360" y="3712464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HSL color overrides. Entire theme in one place.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773168" y="4151376"/>
            <a:ext cx="4005072" cy="438912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7C3AED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773168" y="4151376"/>
            <a:ext cx="50292" cy="4389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19472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309360" y="420624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· light · dark — switchable live at runtime.</a:t>
            </a:r>
            <a:endParaRPr lang="en-US" sz="85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592" y="4596504"/>
            <a:ext cx="1755648" cy="4135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38912" y="228600"/>
            <a:ext cx="1271016" cy="237744"/>
          </a:xfrm>
          <a:prstGeom prst="rect">
            <a:avLst/>
          </a:prstGeom>
          <a:solidFill>
            <a:srgbClr val="4338CA">
              <a:alpha val="22000"/>
            </a:srgbClr>
          </a:solidFill>
          <a:ln w="8255">
            <a:solidFill>
              <a:srgbClr val="4338CA">
                <a:alpha val="5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2860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and Running in 3 Steps.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57200" y="14264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config hell. No magic boilerplate. Install → Wrap → Import → Ship.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26280"/>
            <a:ext cx="1755648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02336" y="1883664"/>
            <a:ext cx="2761488" cy="3072384"/>
          </a:xfrm>
          <a:prstGeom prst="rect">
            <a:avLst/>
          </a:prstGeom>
          <a:solidFill>
            <a:srgbClr val="FFFFFF"/>
          </a:solidFill>
          <a:ln w="5715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02336" y="1883664"/>
            <a:ext cx="2761488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" y="1947672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55F7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42416" y="19476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12064" y="2377440"/>
            <a:ext cx="2560320" cy="1417320"/>
          </a:xfrm>
          <a:prstGeom prst="rect">
            <a:avLst/>
          </a:prstGeom>
          <a:solidFill>
            <a:srgbClr val="0D1230">
              <a:alpha val="90000"/>
            </a:srgbClr>
          </a:solidFill>
          <a:ln w="5080">
            <a:solidFill>
              <a:srgbClr val="1A2456">
                <a:alpha val="64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" y="2450592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add @uibrium/ui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framer-motion lucide-react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12064" y="3858768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use npm / yarn — any package manager works.</a:t>
            </a:r>
            <a:endParaRPr lang="en-US" sz="900" b="1" dirty="0"/>
          </a:p>
        </p:txBody>
      </p:sp>
      <p:sp>
        <p:nvSpPr>
          <p:cNvPr id="15" name="Shape 12"/>
          <p:cNvSpPr/>
          <p:nvPr/>
        </p:nvSpPr>
        <p:spPr>
          <a:xfrm>
            <a:off x="3346704" y="1883664"/>
            <a:ext cx="2761488" cy="3072384"/>
          </a:xfrm>
          <a:prstGeom prst="rect">
            <a:avLst/>
          </a:prstGeom>
          <a:solidFill>
            <a:srgbClr val="FFFFFF"/>
          </a:solidFill>
          <a:ln w="5715">
            <a:solidFill>
              <a:srgbClr val="6366F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46704" y="1883664"/>
            <a:ext cx="2761488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56432" y="1947672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366F1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986784" y="19476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Styles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3456432" y="2377440"/>
            <a:ext cx="2560320" cy="1417320"/>
          </a:xfrm>
          <a:prstGeom prst="rect">
            <a:avLst/>
          </a:prstGeom>
          <a:solidFill>
            <a:srgbClr val="0D1230">
              <a:alpha val="90000"/>
            </a:srgbClr>
          </a:solidFill>
          <a:ln w="5080">
            <a:solidFill>
              <a:srgbClr val="1A2456">
                <a:alpha val="64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47872" y="2450592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'@uibrium/ui/styles.css';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456432" y="3858768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once to your root file — main.tsx or _app.tsx.</a:t>
            </a:r>
            <a:endParaRPr lang="en-US" sz="900" b="1" dirty="0"/>
          </a:p>
        </p:txBody>
      </p:sp>
      <p:sp>
        <p:nvSpPr>
          <p:cNvPr id="22" name="Shape 19"/>
          <p:cNvSpPr/>
          <p:nvPr/>
        </p:nvSpPr>
        <p:spPr>
          <a:xfrm>
            <a:off x="6291072" y="1883664"/>
            <a:ext cx="2761488" cy="3072384"/>
          </a:xfrm>
          <a:prstGeom prst="rect">
            <a:avLst/>
          </a:prstGeom>
          <a:solidFill>
            <a:srgbClr val="FFFFFF"/>
          </a:solidFill>
          <a:ln w="5715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291072" y="1883664"/>
            <a:ext cx="2761488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0" y="1947672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931152" y="19476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Components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6400800" y="2377440"/>
            <a:ext cx="2560320" cy="1417320"/>
          </a:xfrm>
          <a:prstGeom prst="rect">
            <a:avLst/>
          </a:prstGeom>
          <a:solidFill>
            <a:srgbClr val="0D1230">
              <a:alpha val="90000"/>
            </a:srgbClr>
          </a:solidFill>
          <a:ln w="5080">
            <a:solidFill>
              <a:srgbClr val="1A2456">
                <a:alpha val="64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92240" y="2450592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Button } from '@uibrium/ui';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&lt;ThemeProvider&gt;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variant='primary'&gt;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Initiate Equilibrium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&lt;/Button&gt;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&lt;/ThemeProvider&gt;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00800" y="3858768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your app in ThemeProvider. You're done!</a:t>
            </a:r>
            <a:endParaRPr lang="en-US" sz="900" b="1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891" y="228600"/>
            <a:ext cx="1748901" cy="5068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28600"/>
            <a:ext cx="1929384" cy="237744"/>
          </a:xfrm>
          <a:prstGeom prst="rect">
            <a:avLst/>
          </a:prstGeom>
          <a:solidFill>
            <a:srgbClr val="4338CA">
              <a:alpha val="22000"/>
            </a:srgbClr>
          </a:solidFill>
          <a:ln w="8255">
            <a:solidFill>
              <a:srgbClr val="4338CA">
                <a:alpha val="5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28600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COMPONENT USERS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Beautiful UIs Faster.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02336" y="1664208"/>
            <a:ext cx="1993392" cy="1170432"/>
          </a:xfrm>
          <a:prstGeom prst="rect">
            <a:avLst/>
          </a:prstGeom>
          <a:solidFill>
            <a:srgbClr val="FFFFFF"/>
          </a:solidFill>
          <a:ln w="5715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02336" y="173736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19+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402336" y="230428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02336" y="256032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production-tested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78608" y="1664208"/>
            <a:ext cx="1993392" cy="1170432"/>
          </a:xfrm>
          <a:prstGeom prst="rect">
            <a:avLst/>
          </a:prstGeom>
          <a:solidFill>
            <a:srgbClr val="FFFFFF"/>
          </a:solidFill>
          <a:ln w="5715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78608" y="173736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2578608" y="230428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Hooks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578608" y="256032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· ClickOutside · MediaQuery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754880" y="1664208"/>
            <a:ext cx="1993392" cy="1170432"/>
          </a:xfrm>
          <a:prstGeom prst="rect">
            <a:avLst/>
          </a:prstGeom>
          <a:solidFill>
            <a:srgbClr val="FFFFFF"/>
          </a:solidFill>
          <a:ln w="5715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54880" y="173736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300" dirty="0"/>
          </a:p>
        </p:txBody>
      </p:sp>
      <p:sp>
        <p:nvSpPr>
          <p:cNvPr id="17" name="Text 14"/>
          <p:cNvSpPr/>
          <p:nvPr/>
        </p:nvSpPr>
        <p:spPr>
          <a:xfrm>
            <a:off x="4754880" y="230428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54880" y="256032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typed props &amp; variants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931152" y="1664208"/>
            <a:ext cx="1993392" cy="1170432"/>
          </a:xfrm>
          <a:prstGeom prst="rect">
            <a:avLst/>
          </a:prstGeom>
          <a:solidFill>
            <a:srgbClr val="FFFFFF"/>
          </a:solidFill>
          <a:ln w="5715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931152" y="173736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0ms</a:t>
            </a:r>
            <a:endParaRPr lang="en-US" sz="3300" dirty="0"/>
          </a:p>
        </p:txBody>
      </p:sp>
      <p:sp>
        <p:nvSpPr>
          <p:cNvPr id="21" name="Text 18"/>
          <p:cNvSpPr/>
          <p:nvPr/>
        </p:nvSpPr>
        <p:spPr>
          <a:xfrm>
            <a:off x="6931152" y="230428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CSS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931152" y="256032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= pure build-time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02336" y="2944368"/>
            <a:ext cx="4041648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02336" y="2944368"/>
            <a:ext cx="50292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3776" y="2974726"/>
            <a:ext cx="384048" cy="384048"/>
          </a:xfrm>
          <a:prstGeom prst="ellipse">
            <a:avLst/>
          </a:prstGeom>
          <a:solidFill>
            <a:srgbClr val="0D1230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26" y="3055376"/>
            <a:ext cx="222748" cy="22274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005840" y="300837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One-package install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1005840" y="327355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add @uibrium/ui framer-motion lucide-react — one command, you're done.</a:t>
            </a:r>
            <a:endParaRPr lang="en-US" sz="900" b="1" dirty="0"/>
          </a:p>
        </p:txBody>
      </p:sp>
      <p:sp>
        <p:nvSpPr>
          <p:cNvPr id="29" name="Shape 25"/>
          <p:cNvSpPr/>
          <p:nvPr/>
        </p:nvSpPr>
        <p:spPr>
          <a:xfrm>
            <a:off x="4718304" y="2944368"/>
            <a:ext cx="4041648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4338C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718304" y="2944368"/>
            <a:ext cx="50292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809744" y="2974726"/>
            <a:ext cx="384048" cy="384048"/>
          </a:xfrm>
          <a:prstGeom prst="ellipse">
            <a:avLst/>
          </a:prstGeom>
          <a:solidFill>
            <a:srgbClr val="0D1230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394" y="3055376"/>
            <a:ext cx="222748" cy="22274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321808" y="300837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dark mode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5321808" y="327355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in ThemeProvider. OS preference respected. Toggle at runtime with one prop.</a:t>
            </a:r>
            <a:endParaRPr lang="en-US" sz="900" b="1" dirty="0"/>
          </a:p>
        </p:txBody>
      </p:sp>
      <p:sp>
        <p:nvSpPr>
          <p:cNvPr id="35" name="Shape 30"/>
          <p:cNvSpPr/>
          <p:nvPr/>
        </p:nvSpPr>
        <p:spPr>
          <a:xfrm>
            <a:off x="402336" y="3694176"/>
            <a:ext cx="4041648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402336" y="3694176"/>
            <a:ext cx="50292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493776" y="3724534"/>
            <a:ext cx="384048" cy="384048"/>
          </a:xfrm>
          <a:prstGeom prst="ellipse">
            <a:avLst/>
          </a:prstGeom>
          <a:solidFill>
            <a:srgbClr val="0D1230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426" y="3805184"/>
            <a:ext cx="222748" cy="22274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005840" y="375818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asChild composition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1005840" y="40233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with next/link or any routing component — no extra DOM wrappers.</a:t>
            </a:r>
            <a:endParaRPr lang="en-US" sz="900" b="1" dirty="0"/>
          </a:p>
        </p:txBody>
      </p:sp>
      <p:sp>
        <p:nvSpPr>
          <p:cNvPr id="41" name="Shape 35"/>
          <p:cNvSpPr/>
          <p:nvPr/>
        </p:nvSpPr>
        <p:spPr>
          <a:xfrm>
            <a:off x="4718304" y="3694176"/>
            <a:ext cx="4041648" cy="658368"/>
          </a:xfrm>
          <a:prstGeom prst="rect">
            <a:avLst/>
          </a:prstGeom>
          <a:solidFill>
            <a:srgbClr val="FFFFFF"/>
          </a:solidFill>
          <a:ln w="5715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4718304" y="3694176"/>
            <a:ext cx="50292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4809744" y="3724534"/>
            <a:ext cx="384048" cy="384048"/>
          </a:xfrm>
          <a:prstGeom prst="ellipse">
            <a:avLst/>
          </a:prstGeom>
          <a:solidFill>
            <a:srgbClr val="0D1230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0394" y="3805184"/>
            <a:ext cx="222748" cy="22274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321808" y="375818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Documentation-first</a:t>
            </a:r>
            <a:endParaRPr lang="en-US" sz="1050" dirty="0"/>
          </a:p>
        </p:txBody>
      </p:sp>
      <p:sp>
        <p:nvSpPr>
          <p:cNvPr id="46" name="Text 39"/>
          <p:cNvSpPr/>
          <p:nvPr/>
        </p:nvSpPr>
        <p:spPr>
          <a:xfrm>
            <a:off x="5321808" y="40233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documented at uibrium.vercel.app with live examples and prop tables.</a:t>
            </a:r>
            <a:endParaRPr lang="en-US" sz="900" b="1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891" y="228600"/>
            <a:ext cx="1748901" cy="5068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28600"/>
            <a:ext cx="1188720" cy="237744"/>
          </a:xfrm>
          <a:prstGeom prst="rect">
            <a:avLst/>
          </a:prstGeom>
          <a:solidFill>
            <a:srgbClr val="4338CA">
              <a:alpha val="22000"/>
            </a:srgbClr>
          </a:solidFill>
          <a:ln w="8255">
            <a:solidFill>
              <a:srgbClr val="4338CA">
                <a:alpha val="5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38912" y="228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700" b="1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Industry's Best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02336" y="1664208"/>
            <a:ext cx="2761488" cy="1353312"/>
          </a:xfrm>
          <a:prstGeom prst="rect">
            <a:avLst/>
          </a:prstGeom>
          <a:solidFill>
            <a:srgbClr val="FFFFFF"/>
          </a:solidFill>
          <a:ln w="5715">
            <a:solidFill>
              <a:srgbClr val="DDE3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21208" y="1727770"/>
            <a:ext cx="420624" cy="420624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39" y="1816101"/>
            <a:ext cx="243962" cy="2439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0704" y="175564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21208" y="2267712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components, hooks, concurrent features, strict mode.</a:t>
            </a:r>
            <a:endParaRPr lang="en-US" sz="950" b="1" dirty="0"/>
          </a:p>
        </p:txBody>
      </p:sp>
      <p:sp>
        <p:nvSpPr>
          <p:cNvPr id="12" name="Shape 8"/>
          <p:cNvSpPr/>
          <p:nvPr/>
        </p:nvSpPr>
        <p:spPr>
          <a:xfrm>
            <a:off x="3346704" y="1664208"/>
            <a:ext cx="2761488" cy="1353312"/>
          </a:xfrm>
          <a:prstGeom prst="rect">
            <a:avLst/>
          </a:prstGeom>
          <a:solidFill>
            <a:srgbClr val="FFFFFF"/>
          </a:solidFill>
          <a:ln w="5715">
            <a:solidFill>
              <a:srgbClr val="DDE3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3465576" y="1727770"/>
            <a:ext cx="420624" cy="420624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3907" y="1816101"/>
            <a:ext cx="243962" cy="2439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05072" y="175564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465576" y="2267712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typed props, variants, and APIs. Zero any. IntelliSense everywhere.</a:t>
            </a:r>
            <a:endParaRPr lang="en-US" sz="950" b="1" dirty="0"/>
          </a:p>
        </p:txBody>
      </p:sp>
      <p:sp>
        <p:nvSpPr>
          <p:cNvPr id="17" name="Shape 12"/>
          <p:cNvSpPr/>
          <p:nvPr/>
        </p:nvSpPr>
        <p:spPr>
          <a:xfrm>
            <a:off x="6291072" y="1664208"/>
            <a:ext cx="2761488" cy="1353312"/>
          </a:xfrm>
          <a:prstGeom prst="rect">
            <a:avLst/>
          </a:prstGeom>
          <a:solidFill>
            <a:srgbClr val="FFFFFF"/>
          </a:solidFill>
          <a:ln w="5715">
            <a:solidFill>
              <a:srgbClr val="DDE3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09944" y="1727770"/>
            <a:ext cx="420624" cy="420624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275" y="1816101"/>
            <a:ext cx="243962" cy="2439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49440" y="175564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9944" y="2267712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Utility-first. Zero runtime CSS. Pure HSL design token palette.</a:t>
            </a:r>
            <a:endParaRPr lang="en-US" sz="950" b="1" dirty="0"/>
          </a:p>
        </p:txBody>
      </p:sp>
      <p:sp>
        <p:nvSpPr>
          <p:cNvPr id="22" name="Shape 16"/>
          <p:cNvSpPr/>
          <p:nvPr/>
        </p:nvSpPr>
        <p:spPr>
          <a:xfrm>
            <a:off x="402336" y="3145536"/>
            <a:ext cx="2761488" cy="1353312"/>
          </a:xfrm>
          <a:prstGeom prst="rect">
            <a:avLst/>
          </a:prstGeom>
          <a:solidFill>
            <a:srgbClr val="FFFFFF"/>
          </a:solidFill>
          <a:ln w="5715">
            <a:solidFill>
              <a:srgbClr val="DDE3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521208" y="3213006"/>
            <a:ext cx="420624" cy="420624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39" y="3301337"/>
            <a:ext cx="243962" cy="24396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60704" y="323697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21208" y="374904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micro-interactions and premium sensory animations.</a:t>
            </a:r>
            <a:endParaRPr lang="en-US" sz="950" b="1" dirty="0"/>
          </a:p>
        </p:txBody>
      </p:sp>
      <p:sp>
        <p:nvSpPr>
          <p:cNvPr id="27" name="Shape 20"/>
          <p:cNvSpPr/>
          <p:nvPr/>
        </p:nvSpPr>
        <p:spPr>
          <a:xfrm>
            <a:off x="3346704" y="3145536"/>
            <a:ext cx="2761488" cy="1353312"/>
          </a:xfrm>
          <a:prstGeom prst="rect">
            <a:avLst/>
          </a:prstGeom>
          <a:solidFill>
            <a:srgbClr val="FFFFFF"/>
          </a:solidFill>
          <a:ln w="5715">
            <a:solidFill>
              <a:srgbClr val="DDE3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492742" y="3233159"/>
            <a:ext cx="420624" cy="420624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1073" y="3321490"/>
            <a:ext cx="243962" cy="24396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005072" y="323697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 UI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3465576" y="374904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primitives. WAI-ARIA built-in. Unstyled, fully composable.</a:t>
            </a:r>
            <a:endParaRPr lang="en-US" sz="950" b="1" dirty="0"/>
          </a:p>
        </p:txBody>
      </p:sp>
      <p:sp>
        <p:nvSpPr>
          <p:cNvPr id="32" name="Shape 24"/>
          <p:cNvSpPr/>
          <p:nvPr/>
        </p:nvSpPr>
        <p:spPr>
          <a:xfrm>
            <a:off x="6291072" y="3145536"/>
            <a:ext cx="2761488" cy="1353312"/>
          </a:xfrm>
          <a:prstGeom prst="rect">
            <a:avLst/>
          </a:prstGeom>
          <a:solidFill>
            <a:srgbClr val="FFFFFF"/>
          </a:solidFill>
          <a:ln w="5715">
            <a:solidFill>
              <a:srgbClr val="DDE3F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5"/>
          <p:cNvSpPr/>
          <p:nvPr/>
        </p:nvSpPr>
        <p:spPr>
          <a:xfrm>
            <a:off x="6409944" y="3233159"/>
            <a:ext cx="420624" cy="420624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8275" y="3321490"/>
            <a:ext cx="243962" cy="24396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949440" y="323697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Turborepo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6409944" y="374904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monorepo build caching. Docs and library always in sync.</a:t>
            </a:r>
            <a:endParaRPr lang="en-US" sz="950" b="1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891" y="228600"/>
            <a:ext cx="1748901" cy="5068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029200" cy="5029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4114800" cy="4114800"/>
          </a:xfrm>
          <a:prstGeom prst="ellipse">
            <a:avLst/>
          </a:prstGeom>
          <a:solidFill>
            <a:srgbClr val="6366F1">
              <a:alpha val="7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0" y="-457200"/>
            <a:ext cx="5029200" cy="5029200"/>
          </a:xfrm>
          <a:prstGeom prst="ellipse">
            <a:avLst/>
          </a:prstGeom>
          <a:solidFill>
            <a:srgbClr val="059669">
              <a:alpha val="9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-457200" y="1828800"/>
            <a:ext cx="3200400" cy="3200400"/>
          </a:xfrm>
          <a:prstGeom prst="ellipse">
            <a:avLst/>
          </a:prstGeom>
          <a:solidFill>
            <a:srgbClr val="7C3AED">
              <a:alpha val="6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38912" y="228600"/>
            <a:ext cx="1682496" cy="237744"/>
          </a:xfrm>
          <a:prstGeom prst="rect">
            <a:avLst/>
          </a:prstGeom>
          <a:solidFill>
            <a:srgbClr val="10B981">
              <a:alpha val="22000"/>
            </a:srgbClr>
          </a:solidFill>
          <a:ln w="8255">
            <a:solidFill>
              <a:srgbClr val="10B981">
                <a:alpha val="5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2860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CONTRIBUTORS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Open Source</a:t>
            </a:r>
            <a:endParaRPr lang="en-US" sz="3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Starts Here.</a:t>
            </a:r>
            <a:endParaRPr lang="en-US" sz="3100" dirty="0"/>
          </a:p>
        </p:txBody>
      </p:sp>
      <p:sp>
        <p:nvSpPr>
          <p:cNvPr id="10" name="Shape 7"/>
          <p:cNvSpPr/>
          <p:nvPr/>
        </p:nvSpPr>
        <p:spPr>
          <a:xfrm>
            <a:off x="420624" y="1682496"/>
            <a:ext cx="4206240" cy="3182112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1A2456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0624" y="1682496"/>
            <a:ext cx="50292" cy="31821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" y="1773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Steps to your first PR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" y="2157984"/>
            <a:ext cx="210312" cy="2103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2157984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0A1A"/>
                </a:solidFill>
              </a:rPr>
              <a:t>1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905256" y="2139696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&amp; Clone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020824" y="2139696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github.com/aryanony/uibrium → git clone → cd uibrium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" y="2688336"/>
            <a:ext cx="210312" cy="2103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" y="2688336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0A1A"/>
                </a:solidFill>
              </a:rPr>
              <a:t>2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905256" y="267004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020824" y="2670048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 -g pnpm → pnpm install → pnpm dev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" y="3218688"/>
            <a:ext cx="210312" cy="2103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" y="321868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0A1A"/>
                </a:solidFill>
              </a:rPr>
              <a:t>3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905256" y="3200400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Issue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020824" y="3200400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→ filter 'good first issue' → comment 'I'm on it!'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03504" y="3749040"/>
            <a:ext cx="210312" cy="2103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3504" y="3749040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0A1A"/>
                </a:solidFill>
              </a:rPr>
              <a:t>4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905256" y="3730752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Code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020824" y="3730752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-b feat/name → edit → pnpm build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03504" y="4279392"/>
            <a:ext cx="210312" cy="2103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3504" y="4279392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0A1A"/>
                </a:solidFill>
              </a:rPr>
              <a:t>5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905256" y="4261104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020824" y="4261104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→ open Pull Request → link issue → done!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73168" y="1682496"/>
            <a:ext cx="4005072" cy="1463040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A855F7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956048" y="1773936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gain</a:t>
            </a:r>
            <a:endParaRPr lang="en-US" sz="110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066544"/>
            <a:ext cx="164592" cy="16459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193792" y="2039112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contribution permanently on your profile</a:t>
            </a:r>
            <a:endParaRPr lang="en-US" sz="95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322576"/>
            <a:ext cx="164592" cy="16459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193792" y="2295144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in CONTRIBUTORS.md — credited forever</a:t>
            </a:r>
            <a:endParaRPr lang="en-US" sz="95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578608"/>
            <a:ext cx="164592" cy="16459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193792" y="2551176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open-source experience for your resume</a:t>
            </a:r>
            <a:endParaRPr lang="en-US" sz="95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834640"/>
            <a:ext cx="164592" cy="16459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193792" y="280720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 review &amp; guidance from maintainer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4773168" y="3236976"/>
            <a:ext cx="4005072" cy="1627632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22D3EE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4" name="Text 37"/>
          <p:cNvSpPr/>
          <p:nvPr/>
        </p:nvSpPr>
        <p:spPr>
          <a:xfrm>
            <a:off x="4956048" y="3328416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First Issues — Ready Now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4937760" y="3665946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39"/>
          <p:cNvSpPr/>
          <p:nvPr/>
        </p:nvSpPr>
        <p:spPr>
          <a:xfrm>
            <a:off x="5093208" y="3611880"/>
            <a:ext cx="3584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Storybook story for Alert (15 min)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4937760" y="3894546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5093208" y="3840480"/>
            <a:ext cx="3584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Storybook story for Badge (15 min)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4937760" y="4123146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5093208" y="4069080"/>
            <a:ext cx="3584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JSDoc comments to Button (20 min)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4937760" y="4351746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5093208" y="4297680"/>
            <a:ext cx="3584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aria-label to Pagination (20 min)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4937760" y="4580346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5093208" y="4526280"/>
            <a:ext cx="3584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typo / broken link in docs (5 min)</a:t>
            </a:r>
            <a:endParaRPr lang="en-US" sz="900" dirty="0"/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592" y="757930"/>
            <a:ext cx="1755648" cy="4135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029200" cy="5029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4114800" cy="4114800"/>
          </a:xfrm>
          <a:prstGeom prst="ellipse">
            <a:avLst/>
          </a:prstGeom>
          <a:solidFill>
            <a:srgbClr val="6366F1">
              <a:alpha val="7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0"/>
            <a:ext cx="4572000" cy="4572000"/>
          </a:xfrm>
          <a:prstGeom prst="ellipse">
            <a:avLst/>
          </a:prstGeom>
          <a:solidFill>
            <a:srgbClr val="7C3AED">
              <a:alpha val="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228600"/>
            <a:ext cx="1106424" cy="237744"/>
          </a:xfrm>
          <a:prstGeom prst="rect">
            <a:avLst/>
          </a:prstGeom>
          <a:solidFill>
            <a:srgbClr val="A855F7">
              <a:alpha val="22000"/>
            </a:srgbClr>
          </a:solidFill>
          <a:ln w="8255">
            <a:solidFill>
              <a:srgbClr val="A855F7">
                <a:alpha val="5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228600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Uibrium Thrives.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3167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weekend side projects to enterprise-grade product teams.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2336" y="1755648"/>
            <a:ext cx="2761488" cy="1426464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A855F7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02336" y="1755648"/>
            <a:ext cx="50292" cy="14264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2064" y="1788034"/>
            <a:ext cx="384048" cy="384048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14" y="1868684"/>
            <a:ext cx="222748" cy="2227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&amp; MVPs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21208" y="2359152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UI in days. No designer needed. Full component system out of the box.</a:t>
            </a:r>
            <a:endParaRPr lang="en-US" sz="950" b="1" dirty="0"/>
          </a:p>
        </p:txBody>
      </p:sp>
      <p:sp>
        <p:nvSpPr>
          <p:cNvPr id="16" name="Shape 12"/>
          <p:cNvSpPr/>
          <p:nvPr/>
        </p:nvSpPr>
        <p:spPr>
          <a:xfrm>
            <a:off x="3346704" y="1755648"/>
            <a:ext cx="2761488" cy="1426464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6366F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346704" y="1755648"/>
            <a:ext cx="50292" cy="14264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456432" y="1788034"/>
            <a:ext cx="384048" cy="384048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7082" y="1868684"/>
            <a:ext cx="222748" cy="2227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50208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3465576" y="2359152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Table, Tabs, Badge, Accordion — exact primitives every analytics UI needs.</a:t>
            </a:r>
            <a:endParaRPr lang="en-US" sz="950" b="1" dirty="0"/>
          </a:p>
        </p:txBody>
      </p:sp>
      <p:sp>
        <p:nvSpPr>
          <p:cNvPr id="22" name="Shape 17"/>
          <p:cNvSpPr/>
          <p:nvPr/>
        </p:nvSpPr>
        <p:spPr>
          <a:xfrm>
            <a:off x="6291072" y="1755648"/>
            <a:ext cx="2761488" cy="1426464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10B98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91072" y="1755648"/>
            <a:ext cx="50292" cy="14264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00800" y="1788034"/>
            <a:ext cx="384048" cy="384048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1450" y="1868684"/>
            <a:ext cx="222748" cy="2227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94576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Products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409944" y="2359152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from beta to enterprise. Professional UI that grows with your product.</a:t>
            </a:r>
            <a:endParaRPr lang="en-US" sz="950" b="1" dirty="0"/>
          </a:p>
        </p:txBody>
      </p:sp>
      <p:sp>
        <p:nvSpPr>
          <p:cNvPr id="28" name="Shape 22"/>
          <p:cNvSpPr/>
          <p:nvPr/>
        </p:nvSpPr>
        <p:spPr>
          <a:xfrm>
            <a:off x="402336" y="3328416"/>
            <a:ext cx="2761488" cy="1426464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22D3EE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02336" y="3328416"/>
            <a:ext cx="50292" cy="14264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12064" y="3360802"/>
            <a:ext cx="384048" cy="384048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714" y="3441452"/>
            <a:ext cx="222748" cy="2227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05840" y="3401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Tools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521208" y="393192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panels, CRMs, back-office — consistent, trusted, accessible.</a:t>
            </a:r>
            <a:endParaRPr lang="en-US" sz="950" b="1" dirty="0"/>
          </a:p>
        </p:txBody>
      </p:sp>
      <p:sp>
        <p:nvSpPr>
          <p:cNvPr id="34" name="Shape 27"/>
          <p:cNvSpPr/>
          <p:nvPr/>
        </p:nvSpPr>
        <p:spPr>
          <a:xfrm>
            <a:off x="3346704" y="3328416"/>
            <a:ext cx="2761488" cy="1426464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FBBF24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346704" y="3328416"/>
            <a:ext cx="50292" cy="14264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3456432" y="3360802"/>
            <a:ext cx="384048" cy="384048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7082" y="3441452"/>
            <a:ext cx="222748" cy="22274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3950208" y="3401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3465576" y="393192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Uibrium as foundation for your own company component system.</a:t>
            </a:r>
            <a:endParaRPr lang="en-US" sz="950" b="1" dirty="0"/>
          </a:p>
        </p:txBody>
      </p:sp>
      <p:sp>
        <p:nvSpPr>
          <p:cNvPr id="40" name="Shape 32"/>
          <p:cNvSpPr/>
          <p:nvPr/>
        </p:nvSpPr>
        <p:spPr>
          <a:xfrm>
            <a:off x="6291072" y="3328416"/>
            <a:ext cx="2761488" cy="1426464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F8717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291072" y="3328416"/>
            <a:ext cx="50292" cy="14264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6400800" y="3360802"/>
            <a:ext cx="384048" cy="384048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1450" y="3441452"/>
            <a:ext cx="222748" cy="22274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894576" y="3401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Projects</a:t>
            </a:r>
            <a:endParaRPr lang="en-US" sz="1150" dirty="0"/>
          </a:p>
        </p:txBody>
      </p:sp>
      <p:sp>
        <p:nvSpPr>
          <p:cNvPr id="45" name="Text 36"/>
          <p:cNvSpPr/>
          <p:nvPr/>
        </p:nvSpPr>
        <p:spPr>
          <a:xfrm>
            <a:off x="6409944" y="393192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premium frontends fast. Impress clients with polished interactions.</a:t>
            </a:r>
            <a:endParaRPr lang="en-US" sz="950" b="1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608" y="228600"/>
            <a:ext cx="1755648" cy="4135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029200" cy="5029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4114800" cy="4114800"/>
          </a:xfrm>
          <a:prstGeom prst="ellipse">
            <a:avLst/>
          </a:prstGeom>
          <a:solidFill>
            <a:srgbClr val="6366F1">
              <a:alpha val="7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5486400" cy="5486400"/>
          </a:xfrm>
          <a:prstGeom prst="ellipse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914400"/>
            <a:ext cx="3657600" cy="3657600"/>
          </a:xfrm>
          <a:prstGeom prst="ellipse">
            <a:avLst/>
          </a:prstGeom>
          <a:solidFill>
            <a:srgbClr val="0891B2">
              <a:alpha val="6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228600"/>
            <a:ext cx="1517904" cy="237744"/>
          </a:xfrm>
          <a:prstGeom prst="rect">
            <a:avLst/>
          </a:prstGeom>
          <a:solidFill>
            <a:srgbClr val="A855F7">
              <a:alpha val="22000"/>
            </a:srgbClr>
          </a:solidFill>
          <a:ln w="8255">
            <a:solidFill>
              <a:srgbClr val="A855F7">
                <a:alpha val="5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2860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Uibrium in Numbers.</a:t>
            </a:r>
            <a:endParaRPr lang="en-US" sz="3500" dirty="0"/>
          </a:p>
        </p:txBody>
      </p:sp>
      <p:sp>
        <p:nvSpPr>
          <p:cNvPr id="10" name="Shape 7"/>
          <p:cNvSpPr/>
          <p:nvPr/>
        </p:nvSpPr>
        <p:spPr>
          <a:xfrm>
            <a:off x="402336" y="1572768"/>
            <a:ext cx="1993392" cy="1389888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A855F7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02336" y="1572768"/>
            <a:ext cx="1993392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2336" y="166420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19+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02336" y="223113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02336" y="246888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TypeScript, all tested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578608" y="1572768"/>
            <a:ext cx="1993392" cy="1389888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22D3EE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78608" y="1572768"/>
            <a:ext cx="1993392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78608" y="166420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2578608" y="223113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Hooks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578608" y="246888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· ClickOutside · Media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754880" y="1572768"/>
            <a:ext cx="1993392" cy="1389888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6366F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1572768"/>
            <a:ext cx="1993392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166420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4754880" y="223113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754880" y="246888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typed props &amp; variants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931152" y="1572768"/>
            <a:ext cx="1993392" cy="1389888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10B98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931152" y="1572768"/>
            <a:ext cx="1993392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31152" y="166420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6931152" y="223113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931152" y="246888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forever. Always open.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02336" y="3127248"/>
            <a:ext cx="1993392" cy="1389888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FBBF24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02336" y="3127248"/>
            <a:ext cx="1993392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02336" y="321868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402336" y="378561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02336" y="402336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on npm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2578608" y="3127248"/>
            <a:ext cx="1993392" cy="1389888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F8717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2578608" y="3127248"/>
            <a:ext cx="1993392" cy="365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578608" y="321868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3000" dirty="0"/>
          </a:p>
        </p:txBody>
      </p:sp>
      <p:sp>
        <p:nvSpPr>
          <p:cNvPr id="38" name="Text 35"/>
          <p:cNvSpPr/>
          <p:nvPr/>
        </p:nvSpPr>
        <p:spPr>
          <a:xfrm>
            <a:off x="2578608" y="378561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Install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2578608" y="402336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add = you're ready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754880" y="3127248"/>
            <a:ext cx="1993392" cy="1389888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A855F7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754880" y="3127248"/>
            <a:ext cx="1993392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54880" y="321868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0ms</a:t>
            </a:r>
            <a:endParaRPr lang="en-US" sz="3000" dirty="0"/>
          </a:p>
        </p:txBody>
      </p:sp>
      <p:sp>
        <p:nvSpPr>
          <p:cNvPr id="43" name="Text 40"/>
          <p:cNvSpPr/>
          <p:nvPr/>
        </p:nvSpPr>
        <p:spPr>
          <a:xfrm>
            <a:off x="4754880" y="378561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CSS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4754880" y="402336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= pure build-time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931152" y="3127248"/>
            <a:ext cx="1993392" cy="1389888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10B98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6931152" y="3127248"/>
            <a:ext cx="1993392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931152" y="321868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</a:t>
            </a:r>
            <a:endParaRPr lang="en-US" sz="3000" dirty="0"/>
          </a:p>
        </p:txBody>
      </p:sp>
      <p:sp>
        <p:nvSpPr>
          <p:cNvPr id="48" name="Text 45"/>
          <p:cNvSpPr/>
          <p:nvPr/>
        </p:nvSpPr>
        <p:spPr>
          <a:xfrm>
            <a:off x="6931152" y="378561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Compliant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6931152" y="402336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 UI foundation</a:t>
            </a:r>
            <a:endParaRPr lang="en-US" sz="800" dirty="0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592" y="4596504"/>
            <a:ext cx="1755648" cy="4135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029200" cy="5029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4114800" cy="4114800"/>
          </a:xfrm>
          <a:prstGeom prst="ellipse">
            <a:avLst/>
          </a:prstGeom>
          <a:solidFill>
            <a:srgbClr val="6366F1">
              <a:alpha val="7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914400"/>
            <a:ext cx="4114800" cy="4114800"/>
          </a:xfrm>
          <a:prstGeom prst="ellipse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0"/>
            <a:ext cx="4114800" cy="4114800"/>
          </a:xfrm>
          <a:prstGeom prst="ellipse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228600"/>
            <a:ext cx="2093976" cy="237744"/>
          </a:xfrm>
          <a:prstGeom prst="rect">
            <a:avLst/>
          </a:prstGeom>
          <a:solidFill>
            <a:srgbClr val="A855F7">
              <a:alpha val="22000"/>
            </a:srgbClr>
          </a:solidFill>
          <a:ln w="8255">
            <a:solidFill>
              <a:srgbClr val="A855F7">
                <a:alpha val="5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28600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ECOSYSTEM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Gift to the</a:t>
            </a:r>
            <a:endParaRPr lang="en-US" sz="3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Community.</a:t>
            </a:r>
            <a:endParaRPr lang="en-US" sz="3300" dirty="0"/>
          </a:p>
        </p:txBody>
      </p:sp>
      <p:sp>
        <p:nvSpPr>
          <p:cNvPr id="10" name="Shape 7"/>
          <p:cNvSpPr/>
          <p:nvPr/>
        </p:nvSpPr>
        <p:spPr>
          <a:xfrm>
            <a:off x="402336" y="1719072"/>
            <a:ext cx="4041648" cy="1371600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A855F7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" y="1750128"/>
            <a:ext cx="438912" cy="438912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48" y="1842300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0704" y="17922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060704" y="212140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aryanony/uibrium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21208" y="23957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issues, PRs, discussions</a:t>
            </a:r>
            <a:endParaRPr lang="en-US" sz="900" b="1" dirty="0"/>
          </a:p>
        </p:txBody>
      </p:sp>
      <p:sp>
        <p:nvSpPr>
          <p:cNvPr id="16" name="Text 12"/>
          <p:cNvSpPr/>
          <p:nvPr/>
        </p:nvSpPr>
        <p:spPr>
          <a:xfrm>
            <a:off x="521208" y="26700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github.com/aryanony/uibrium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718304" y="1719072"/>
            <a:ext cx="4041648" cy="1371600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CB3837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09744" y="1750128"/>
            <a:ext cx="438912" cy="438912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916" y="1842300"/>
            <a:ext cx="254569" cy="25456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76672" y="17922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376672" y="212140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@uibrium/ui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837176" y="23957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registry — 1 command to install</a:t>
            </a:r>
            <a:endParaRPr lang="en-US" sz="900" b="1" dirty="0"/>
          </a:p>
        </p:txBody>
      </p:sp>
      <p:sp>
        <p:nvSpPr>
          <p:cNvPr id="23" name="Text 18"/>
          <p:cNvSpPr/>
          <p:nvPr/>
        </p:nvSpPr>
        <p:spPr>
          <a:xfrm>
            <a:off x="4837176" y="26700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npmjs.com/package/uibrium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402336" y="3255264"/>
            <a:ext cx="4041648" cy="1371600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6366F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93776" y="3286320"/>
            <a:ext cx="438912" cy="438912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948" y="3378492"/>
            <a:ext cx="254569" cy="25456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60704" y="33284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Docs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060704" y="36576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uibrium.vercel.app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521208" y="3931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· API · Theming · Hooks</a:t>
            </a:r>
            <a:endParaRPr lang="en-US" sz="900" b="1" dirty="0"/>
          </a:p>
        </p:txBody>
      </p:sp>
      <p:sp>
        <p:nvSpPr>
          <p:cNvPr id="30" name="Text 24"/>
          <p:cNvSpPr/>
          <p:nvPr/>
        </p:nvSpPr>
        <p:spPr>
          <a:xfrm>
            <a:off x="521208" y="42062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uibrium.vercel.app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4718304" y="3255264"/>
            <a:ext cx="4041648" cy="1371600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10B98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4809744" y="3286320"/>
            <a:ext cx="438912" cy="438912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916" y="3378492"/>
            <a:ext cx="254569" cy="254569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376672" y="33284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5376672" y="36576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Discussions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4837176" y="3931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· Show &amp; Tell · Contributors</a:t>
            </a:r>
            <a:endParaRPr lang="en-US" sz="900" b="1" dirty="0"/>
          </a:p>
        </p:txBody>
      </p:sp>
      <p:sp>
        <p:nvSpPr>
          <p:cNvPr id="37" name="Text 30"/>
          <p:cNvSpPr/>
          <p:nvPr/>
        </p:nvSpPr>
        <p:spPr>
          <a:xfrm>
            <a:off x="4837176" y="42062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Discussions on GitHub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0" y="477316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with care by Aryan Gupta  ·  Open to the world  ·  MIT License</a:t>
            </a:r>
            <a:endParaRPr lang="en-US" sz="850" dirty="0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304" y="466344"/>
            <a:ext cx="1755648" cy="4135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029200" cy="5029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4114800" cy="4114800"/>
          </a:xfrm>
          <a:prstGeom prst="ellipse">
            <a:avLst/>
          </a:prstGeom>
          <a:solidFill>
            <a:srgbClr val="6366F1">
              <a:alpha val="7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4572000" cy="4572000"/>
          </a:xfrm>
          <a:prstGeom prst="ellipse">
            <a:avLst/>
          </a:prstGeom>
          <a:solidFill>
            <a:srgbClr val="7C3AED">
              <a:alpha val="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228600"/>
            <a:ext cx="1005840" cy="237744"/>
          </a:xfrm>
          <a:prstGeom prst="rect">
            <a:avLst/>
          </a:prstGeom>
          <a:solidFill>
            <a:srgbClr val="A855F7">
              <a:alpha val="22000"/>
            </a:srgbClr>
          </a:solidFill>
          <a:ln w="8255">
            <a:solidFill>
              <a:srgbClr val="A855F7">
                <a:alpha val="5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228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to Uibrium.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to community feedback and contribution velocity.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26280"/>
            <a:ext cx="1755648" cy="365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115568" y="2331720"/>
            <a:ext cx="7132320" cy="0"/>
          </a:xfrm>
          <a:prstGeom prst="line">
            <a:avLst/>
          </a:prstGeom>
          <a:noFill/>
          <a:ln w="19050">
            <a:solidFill>
              <a:srgbClr val="1A2456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18488" y="2176272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A1A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02336" y="2587752"/>
            <a:ext cx="2761488" cy="2286000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10B981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02336" y="2587752"/>
            <a:ext cx="2761488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" y="266090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v1.0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21208" y="305250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76656" y="2971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production components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21208" y="3381684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" y="33009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ThemeProvider + dark mode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21208" y="3710868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6656" y="36301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WAI-ARIA accessibility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21208" y="4040052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" y="39593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docs on Vercel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21208" y="4369236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6656" y="42885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package live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62856" y="2176272"/>
            <a:ext cx="310896" cy="3108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62856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A1A"/>
                </a:solidFill>
              </a:rPr>
              <a:t>2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346704" y="2587752"/>
            <a:ext cx="2761488" cy="2286000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22D3EE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346704" y="2587752"/>
            <a:ext cx="2761488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56432" y="266090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v1.x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3465576" y="3052500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21024" y="2971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DatePicker &amp; TimePicker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465576" y="3381684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21024" y="33009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/ Notification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465576" y="3710868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21024" y="36301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+ Skeleton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3465576" y="4040052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621024" y="39593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form primitives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3465576" y="4369236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621024" y="42885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hook library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7507224" y="2176272"/>
            <a:ext cx="310896" cy="3108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07224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A1A"/>
                </a:solidFill>
              </a:rPr>
              <a:t>3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291072" y="2587752"/>
            <a:ext cx="2761488" cy="2286000"/>
          </a:xfrm>
          <a:prstGeom prst="rect">
            <a:avLst/>
          </a:prstGeom>
          <a:solidFill>
            <a:srgbClr val="0D1230">
              <a:alpha val="92000"/>
            </a:srgbClr>
          </a:solidFill>
          <a:ln w="8255">
            <a:solidFill>
              <a:srgbClr val="A855F7">
                <a:alpha val="55000"/>
              </a:srgbClr>
            </a:solidFill>
            <a:prstDash val="solid"/>
          </a:ln>
          <a:effectLst>
            <a:outerShdw blurRad="2032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1"/>
          <p:cNvSpPr/>
          <p:nvPr/>
        </p:nvSpPr>
        <p:spPr>
          <a:xfrm>
            <a:off x="6291072" y="2587752"/>
            <a:ext cx="2761488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00800" y="266090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— v2.0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6409944" y="3052500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65392" y="2971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component generator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6409944" y="3381684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565392" y="33009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+ Chromatic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6409944" y="3710868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565392" y="36301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theming tokens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6409944" y="4040052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565392" y="39593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regression tests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6409944" y="4369236"/>
            <a:ext cx="82296" cy="8229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565392" y="42885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A11y testing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shape the roadmap — open an issue at github.com/aryanony/uibrium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28600"/>
            <a:ext cx="1106424" cy="237744"/>
          </a:xfrm>
          <a:prstGeom prst="rect">
            <a:avLst/>
          </a:prstGeom>
          <a:solidFill>
            <a:srgbClr val="4338CA">
              <a:alpha val="22000"/>
            </a:srgbClr>
          </a:solidFill>
          <a:ln w="8255">
            <a:solidFill>
              <a:srgbClr val="4338CA">
                <a:alpha val="5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28600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LINKS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Uibrium.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20624" y="1572768"/>
            <a:ext cx="8302752" cy="896112"/>
          </a:xfrm>
          <a:prstGeom prst="rect">
            <a:avLst/>
          </a:prstGeom>
          <a:solidFill>
            <a:srgbClr val="FFFFFF"/>
          </a:solidFill>
          <a:ln w="5715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0624" y="1572768"/>
            <a:ext cx="50292" cy="8961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792224"/>
            <a:ext cx="402336" cy="402336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51" y="1876715"/>
            <a:ext cx="233355" cy="23335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5568" y="1636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Documentation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15568" y="19751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uibrium.vercel.app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77640" y="1664208"/>
            <a:ext cx="4645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started, component API, theming guide, hooks reference, live demos.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0624" y="2596896"/>
            <a:ext cx="8302752" cy="896112"/>
          </a:xfrm>
          <a:prstGeom prst="rect">
            <a:avLst/>
          </a:prstGeom>
          <a:solidFill>
            <a:srgbClr val="FFFFFF"/>
          </a:solidFill>
          <a:ln w="5715">
            <a:solidFill>
              <a:srgbClr val="6366F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0624" y="2596896"/>
            <a:ext cx="50292" cy="8961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2816352"/>
            <a:ext cx="402336" cy="402336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851" y="2900843"/>
            <a:ext cx="233355" cy="23335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15568" y="2660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Package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15568" y="2999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npmjs.com/package/uibrium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977640" y="2688336"/>
            <a:ext cx="4645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via npm, yarn, or pnpm. Peer deps: framer-motion + lucide-react.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20624" y="3621024"/>
            <a:ext cx="8302752" cy="896112"/>
          </a:xfrm>
          <a:prstGeom prst="rect">
            <a:avLst/>
          </a:prstGeom>
          <a:solidFill>
            <a:srgbClr val="FFFFFF"/>
          </a:solidFill>
          <a:ln w="5715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20624" y="3621024"/>
            <a:ext cx="50292" cy="8961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94360" y="3840480"/>
            <a:ext cx="402336" cy="402336"/>
          </a:xfrm>
          <a:prstGeom prst="ellipse">
            <a:avLst/>
          </a:prstGeom>
          <a:solidFill>
            <a:srgbClr val="141B42">
              <a:alpha val="80000"/>
            </a:srgbClr>
          </a:solidFill>
          <a:ln w="5715">
            <a:solidFill>
              <a:srgbClr val="7C3AED">
                <a:alpha val="40000"/>
              </a:srgbClr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851" y="3924971"/>
            <a:ext cx="233355" cy="23335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15568" y="3685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115568" y="40233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github.com/aryanony/uibrium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977640" y="3712464"/>
            <a:ext cx="4645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issues, discussions, CONTRIBUTING.md, good first issues ready.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20624" y="4645152"/>
            <a:ext cx="8302752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603504" y="47000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install: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2048256" y="4700016"/>
            <a:ext cx="6473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add @uibrium/ui framer-motion lucide-react</a:t>
            </a:r>
            <a:endParaRPr lang="en-US" sz="105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891" y="228600"/>
            <a:ext cx="1748901" cy="50681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6858000" cy="50292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731520"/>
            <a:ext cx="4572000" cy="4114800"/>
          </a:xfrm>
          <a:prstGeom prst="ellipse">
            <a:avLst/>
          </a:prstGeom>
          <a:solidFill>
            <a:srgbClr val="4338CA">
              <a:alpha val="10000"/>
            </a:srgbClr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1371600"/>
            <a:ext cx="3200400" cy="3200400"/>
          </a:xfrm>
          <a:prstGeom prst="ellipse">
            <a:avLst/>
          </a:prstGeom>
          <a:solidFill>
            <a:srgbClr val="0891B2">
              <a:alpha val="6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Rebuilding.</a:t>
            </a:r>
            <a:endParaRPr lang="en-US" sz="3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Composing.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Uibrium is your Design Sanctuary — handcrafted with precision,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7A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by conviction, and ready to power your next great product.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207008" y="3355848"/>
            <a:ext cx="2121408" cy="420624"/>
          </a:xfrm>
          <a:prstGeom prst="rect">
            <a:avLst/>
          </a:prstGeom>
          <a:solidFill>
            <a:srgbClr val="7C3AED">
              <a:alpha val="62000"/>
            </a:srgbClr>
          </a:solidFill>
          <a:ln w="12700">
            <a:solidFill>
              <a:srgbClr val="7C3AED">
                <a:alpha val="8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07008" y="3355848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Explore Docs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47872" y="3355848"/>
            <a:ext cx="2121408" cy="420624"/>
          </a:xfrm>
          <a:prstGeom prst="rect">
            <a:avLst/>
          </a:prstGeom>
          <a:solidFill>
            <a:srgbClr val="141B42">
              <a:alpha val="82000"/>
            </a:srgbClr>
          </a:solidFill>
          <a:ln w="12700">
            <a:solidFill>
              <a:srgbClr val="141B42">
                <a:alpha val="7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47872" y="3355848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Star on GitHub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833872" y="3355848"/>
            <a:ext cx="2121408" cy="420624"/>
          </a:xfrm>
          <a:prstGeom prst="rect">
            <a:avLst/>
          </a:prstGeom>
          <a:solidFill>
            <a:srgbClr val="6366F1">
              <a:alpha val="62000"/>
            </a:srgbClr>
          </a:solidFill>
          <a:ln w="12700">
            <a:solidFill>
              <a:srgbClr val="6366F1">
                <a:alpha val="8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33872" y="3355848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Install Now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3931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uibrium.vercel.app   ·   npmjs.com/package/uibrium   ·   github.com/aryanony/uibrium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0" y="475488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Aryan Gupta  ·  MIT License  ·  © 2026 Uibrium</a:t>
            </a:r>
            <a:endParaRPr lang="en-US" sz="8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24786"/>
            <a:ext cx="6400800" cy="13441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1698</Words>
  <Application>Microsoft Office PowerPoint</Application>
  <PresentationFormat>On-screen Show (16:9)</PresentationFormat>
  <Paragraphs>421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Uibrium — Build Smarter. Ship Faster.</dc:title>
  <dc:subject>Multipurpose Product Presentation v3</dc:subject>
  <dc:creator>Aryan Gupta</dc:creator>
  <cp:lastModifiedBy>aRya</cp:lastModifiedBy>
  <cp:revision>37</cp:revision>
  <dcterms:created xsi:type="dcterms:W3CDTF">2026-05-15T07:31:41Z</dcterms:created>
  <dcterms:modified xsi:type="dcterms:W3CDTF">2026-05-15T08:09:32Z</dcterms:modified>
</cp:coreProperties>
</file>