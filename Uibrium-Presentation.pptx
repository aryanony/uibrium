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7" d="100"/>
          <a:sy n="107" d="100"/>
        </p:scale>
        <p:origin x="-306" y="-81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6C268-7EAC-4EAC-AF97-81E66F018BEE}" type="datetimeFigureOut">
              <a:rPr lang="en-IN" smtClean="0"/>
              <a:t>13-04-2026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3A46A9-B7DE-4FA6-8B52-D9443215704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8882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286000"/>
            <a:ext cx="3657600" cy="3657600"/>
          </a:xfrm>
          <a:prstGeom prst="ellipse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1371600" y="457200"/>
            <a:ext cx="6400800" cy="4114800"/>
          </a:xfrm>
          <a:prstGeom prst="ellipse">
            <a:avLst/>
          </a:prstGeom>
          <a:solidFill>
            <a:srgbClr val="7C3AED">
              <a:alpha val="7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4"/>
          <p:cNvSpPr/>
          <p:nvPr/>
        </p:nvSpPr>
        <p:spPr>
          <a:xfrm>
            <a:off x="3200400" y="2724912"/>
            <a:ext cx="2743200" cy="22860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290779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production-grade React UI component library. Built for balance. Designed for scale.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66160"/>
            <a:ext cx="1920240" cy="274320"/>
          </a:xfrm>
          <a:prstGeom prst="roundRect">
            <a:avLst>
              <a:gd name="adj" fmla="val 33333"/>
            </a:avLst>
          </a:prstGeom>
          <a:solidFill>
            <a:srgbClr val="3730A3">
              <a:alpha val="35000"/>
            </a:srgbClr>
          </a:solidFill>
          <a:ln w="9525">
            <a:solidFill>
              <a:srgbClr val="3730A3">
                <a:alpha val="65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35661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React + Tailwind CSS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560320" y="3566160"/>
            <a:ext cx="1920240" cy="274320"/>
          </a:xfrm>
          <a:prstGeom prst="roundRect">
            <a:avLst>
              <a:gd name="adj" fmla="val 33333"/>
            </a:avLst>
          </a:prstGeom>
          <a:solidFill>
            <a:srgbClr val="7C3AED">
              <a:alpha val="35000"/>
            </a:srgbClr>
          </a:solidFill>
          <a:ln w="9525">
            <a:solidFill>
              <a:srgbClr val="7C3AED">
                <a:alpha val="65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60320" y="35661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v2.0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617720" y="3566160"/>
            <a:ext cx="1920240" cy="274320"/>
          </a:xfrm>
          <a:prstGeom prst="roundRect">
            <a:avLst>
              <a:gd name="adj" fmla="val 33333"/>
            </a:avLst>
          </a:prstGeom>
          <a:solidFill>
            <a:srgbClr val="2563EB">
              <a:alpha val="35000"/>
            </a:srgbClr>
          </a:solidFill>
          <a:ln w="9525">
            <a:solidFill>
              <a:srgbClr val="2563EB">
                <a:alpha val="65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17720" y="35661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19 Components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675120" y="3566160"/>
            <a:ext cx="1920240" cy="274320"/>
          </a:xfrm>
          <a:prstGeom prst="roundRect">
            <a:avLst>
              <a:gd name="adj" fmla="val 33333"/>
            </a:avLst>
          </a:prstGeom>
          <a:solidFill>
            <a:srgbClr val="06B6D4">
              <a:alpha val="35000"/>
            </a:srgbClr>
          </a:solidFill>
          <a:ln w="9525">
            <a:solidFill>
              <a:srgbClr val="06B6D4">
                <a:alpha val="65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75120" y="356616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Open Source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0" y="47548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by Aryan Gupta  ·  uibrium.vercel.app  ·  github.com/aryanony/uibrium</a:t>
            </a:r>
            <a:endParaRPr lang="en-US" sz="900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780" y="143002"/>
            <a:ext cx="8183880" cy="23715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286000"/>
            <a:ext cx="3657600" cy="3657600"/>
          </a:xfrm>
          <a:prstGeom prst="ellipse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4F46E5">
              <a:alpha val="50000"/>
            </a:srgbClr>
          </a:solidFill>
          <a:ln w="6350">
            <a:solidFill>
              <a:srgbClr val="67E8F9">
                <a:alpha val="5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67E8F9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Teams Are Rebuilding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Wheel — Every Project.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411480" y="1920240"/>
            <a:ext cx="1920240" cy="256032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920240"/>
            <a:ext cx="54864" cy="25603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2029968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52144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2578608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Lost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2898648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rebuilding buttons, inputs, and modals from scratch on every new project.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560320" y="1920240"/>
            <a:ext cx="1920240" cy="256032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560320" y="1920240"/>
            <a:ext cx="54864" cy="2560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300984" y="2029968"/>
            <a:ext cx="457200" cy="4572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00984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651760" y="2578608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651760" y="2898648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Designs drift across teams. No shared visual language. No single source of truth.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709160" y="1920240"/>
            <a:ext cx="1920240" cy="256032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709160" y="1920240"/>
            <a:ext cx="54864" cy="256032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49824" y="2029968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49824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800600" y="2578608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Fragility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800600" y="2898648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components break silently. No accessibility, no variant system, no tests.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858000" y="1920240"/>
            <a:ext cx="1920240" cy="256032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858000" y="1920240"/>
            <a:ext cx="54864" cy="25603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98664" y="2029968"/>
            <a:ext cx="457200" cy="45720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98664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949440" y="2578608"/>
            <a:ext cx="1783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Scalability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949440" y="2898648"/>
            <a:ext cx="1737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UI grows unmanageable. Theming, dark mode, and reuse become nightmares.</a:t>
            </a:r>
            <a:endParaRPr lang="en-US" sz="950" dirty="0"/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8120" y="4707445"/>
            <a:ext cx="1245980" cy="36107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731520"/>
            <a:ext cx="2743200" cy="2743200"/>
          </a:xfrm>
          <a:prstGeom prst="ellipse">
            <a:avLst/>
          </a:prstGeom>
          <a:solidFill>
            <a:srgbClr val="A78BFA">
              <a:alpha val="1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F0F4FF"/>
          </a:solidFill>
          <a:ln w="6350">
            <a:solidFill>
              <a:srgbClr val="4F46E5">
                <a:alpha val="6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4F46E5"/>
                </a:solidFill>
              </a:rPr>
              <a:t>WHAT IS UIBRIUM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Sanctuary for React Developers.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Production-grade. Accessible. Zero runtime overhead.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28800"/>
            <a:ext cx="4663440" cy="2971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48640" y="196596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UiBrium is a modern React UI component library built on React + Tailwind CSS. It gives teams a complete set of deterministic, accessible, and beautifully crafted components that work out of the box.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2724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309067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production-ready components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" y="344728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" y="341071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ThemeProvider with system dark mode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376732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373075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WAI-ARIA accessible interactions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408736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7240" y="40507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 micro-animations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40740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7240" y="437083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 React icon integration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727448"/>
            <a:ext cx="128016" cy="12801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469087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runtime CSS overhead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303520" y="1828800"/>
            <a:ext cx="3429000" cy="1508760"/>
          </a:xfrm>
          <a:prstGeom prst="rect">
            <a:avLst/>
          </a:prstGeom>
          <a:solidFill>
            <a:srgbClr val="0E1628"/>
          </a:solidFill>
          <a:ln w="9525">
            <a:solidFill>
              <a:srgbClr val="4F46E5">
                <a:alpha val="50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40680" y="19202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in seconds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440680" y="22402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 add @uibrium/ui framer-motion lucide-react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303520" y="2651760"/>
            <a:ext cx="3429000" cy="548640"/>
          </a:xfrm>
          <a:prstGeom prst="rect">
            <a:avLst/>
          </a:prstGeom>
          <a:solidFill>
            <a:srgbClr val="111827"/>
          </a:solidFill>
          <a:ln w="6350">
            <a:solidFill>
              <a:srgbClr val="4F46E5">
                <a:alpha val="40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40680" y="269748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{ ThemeProvider } from '@uibrium/ui';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{ Button, Card, Modal } from '@uibrium/ui';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303520" y="3429000"/>
            <a:ext cx="342900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440680" y="352044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440680" y="3794760"/>
            <a:ext cx="82296" cy="822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605272" y="376732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developers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40680" y="4023360"/>
            <a:ext cx="82296" cy="822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605272" y="399592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 teams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440680" y="4251960"/>
            <a:ext cx="82296" cy="822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605272" y="422452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&amp; startup builders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440680" y="4480560"/>
            <a:ext cx="82296" cy="8229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605272" y="445312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contributors</a:t>
            </a:r>
            <a:endParaRPr lang="en-US" sz="1000" dirty="0"/>
          </a:p>
        </p:txBody>
      </p:sp>
      <p:pic>
        <p:nvPicPr>
          <p:cNvPr id="37" name="Picture 3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3573" y="4679237"/>
            <a:ext cx="1340528" cy="3884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286000"/>
            <a:ext cx="3657600" cy="3657600"/>
          </a:xfrm>
          <a:prstGeom prst="ellipse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4F46E5">
              <a:alpha val="50000"/>
            </a:srgbClr>
          </a:solidFill>
          <a:ln w="6350">
            <a:solidFill>
              <a:srgbClr val="67E8F9">
                <a:alpha val="5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67E8F9"/>
                </a:solidFill>
              </a:rPr>
              <a:t>CORE PHILOSOPHY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Pillars of the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Uibrium Design Sanctuary.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320040" y="1691640"/>
            <a:ext cx="1572768" cy="274320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86968" y="1828800"/>
            <a:ext cx="438912" cy="43891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696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32104" y="2377440"/>
            <a:ext cx="54864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5760" y="2487168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393192" y="2816352"/>
            <a:ext cx="1426464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is engineered to be visually and structurally symmetrical. Nothing is ad-hoc.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039112" y="1691640"/>
            <a:ext cx="1572768" cy="274320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606040" y="1828800"/>
            <a:ext cx="438912" cy="43891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606040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551176" y="2377440"/>
            <a:ext cx="54864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084832" y="2487168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Modularity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112264" y="2816352"/>
            <a:ext cx="1426464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 primitives. Build any interface from isolated, independent building blocks.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758184" y="1691640"/>
            <a:ext cx="1572768" cy="274320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25112" y="1828800"/>
            <a:ext cx="438912" cy="43891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25112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270248" y="2377440"/>
            <a:ext cx="548640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803904" y="2487168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Flexibility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3831336" y="2816352"/>
            <a:ext cx="1426464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variant, size, color, and className overrides. Adapt every component to your brand.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477256" y="1691640"/>
            <a:ext cx="1572768" cy="274320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044184" y="1828800"/>
            <a:ext cx="438912" cy="43891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044184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989320" y="2377440"/>
            <a:ext cx="54864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522976" y="2487168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5550408" y="2816352"/>
            <a:ext cx="1426464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= zero runtime CSS. Framer Motion = GPU-accelerated animations only.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196328" y="1691640"/>
            <a:ext cx="1572768" cy="274320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763256" y="1828800"/>
            <a:ext cx="438912" cy="43891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763256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7708392" y="2377440"/>
            <a:ext cx="548640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242048" y="2487168"/>
            <a:ext cx="1481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7269480" y="2816352"/>
            <a:ext cx="1426464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WAI-ARIA 2.1 compliant. Keyboard navigation. Screen-reader tested. Everyone included.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502920" y="466344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"Architecture is defining the space where souls interact. UiBrium is that space for your data."</a:t>
            </a:r>
            <a:endParaRPr lang="en-US" sz="950" dirty="0"/>
          </a:p>
        </p:txBody>
      </p:sp>
      <p:pic>
        <p:nvPicPr>
          <p:cNvPr id="40" name="Picture 3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8120" y="4707445"/>
            <a:ext cx="1245980" cy="3610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731520"/>
            <a:ext cx="2743200" cy="2743200"/>
          </a:xfrm>
          <a:prstGeom prst="ellipse">
            <a:avLst/>
          </a:prstGeom>
          <a:solidFill>
            <a:srgbClr val="A78BFA">
              <a:alpha val="1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F0F4FF"/>
          </a:solidFill>
          <a:ln w="6350">
            <a:solidFill>
              <a:srgbClr val="4F46E5">
                <a:alpha val="6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4F46E5"/>
                </a:solidFill>
              </a:rPr>
              <a:t>ARCHITECTURE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Uibrium Is Structured.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layered system from tokens to components to your app.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645920" y="1691640"/>
            <a:ext cx="5852160" cy="38404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645920" y="1691640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Application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691640" y="2148840"/>
            <a:ext cx="5760720" cy="38404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691640" y="2148840"/>
            <a:ext cx="5760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ThemeProvider  +  Dark Mode System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37360" y="2606040"/>
            <a:ext cx="5669280" cy="3840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737360" y="26060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@uibrium/ui  —  Component Layer  (19 Components)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783080" y="3063240"/>
            <a:ext cx="5577840" cy="384048"/>
          </a:xfrm>
          <a:prstGeom prst="rect">
            <a:avLst/>
          </a:prstGeom>
          <a:solidFill>
            <a:srgbClr val="0E1628"/>
          </a:solidFill>
          <a:ln w="12700">
            <a:solidFill>
              <a:srgbClr val="0E1628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783080" y="3063240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 (Animations)   +   Lucide React (Icons)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828800" y="3520440"/>
            <a:ext cx="5486400" cy="3840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28800" y="352044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 —  Design Tokens  +  Utility Classes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874520" y="3977640"/>
            <a:ext cx="5394960" cy="384048"/>
          </a:xfrm>
          <a:prstGeom prst="rect">
            <a:avLst/>
          </a:prstGeom>
          <a:solidFill>
            <a:srgbClr val="080D1A"/>
          </a:solidFill>
          <a:ln w="12700">
            <a:solidFill>
              <a:srgbClr val="080D1A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874520" y="397764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 —  Functional Components  +  Hooks Layer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492240" y="1691640"/>
            <a:ext cx="2286000" cy="2679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583680" y="181051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589520" y="181051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@uibrium/ui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0" y="214884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589520" y="2148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583680" y="2487168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589520" y="248716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primitives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583680" y="2825496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7589520" y="282549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utility hooks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583680" y="3163824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589520" y="3163824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583680" y="3502152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7589520" y="350215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583680" y="3840480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7589520" y="38404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900" dirty="0"/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8881" y="4712584"/>
            <a:ext cx="1136341" cy="3292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286000"/>
            <a:ext cx="3657600" cy="3657600"/>
          </a:xfrm>
          <a:prstGeom prst="ellipse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4F46E5">
              <a:alpha val="50000"/>
            </a:srgbClr>
          </a:solidFill>
          <a:ln w="6350">
            <a:solidFill>
              <a:srgbClr val="67E8F9">
                <a:alpha val="5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67E8F9"/>
                </a:solidFill>
              </a:rPr>
              <a:t>DESIGN SYSTEM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Theming, and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 — Built In.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411480" y="1828800"/>
            <a:ext cx="1005840" cy="548640"/>
          </a:xfrm>
          <a:prstGeom prst="rect">
            <a:avLst/>
          </a:prstGeom>
          <a:solidFill>
            <a:srgbClr val="4F46E5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11480" y="23957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#4F46E5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411480" y="25968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Indigo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618488" y="1828800"/>
            <a:ext cx="1005840" cy="548640"/>
          </a:xfrm>
          <a:prstGeom prst="rect">
            <a:avLst/>
          </a:prstGeom>
          <a:solidFill>
            <a:srgbClr val="7C3AED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18488" y="23957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#7C3AED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1618488" y="25968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Violet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825496" y="1828800"/>
            <a:ext cx="1005840" cy="548640"/>
          </a:xfrm>
          <a:prstGeom prst="rect">
            <a:avLst/>
          </a:prstGeom>
          <a:solidFill>
            <a:srgbClr val="2563E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825496" y="23957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#2563EB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2825496" y="25968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032504" y="1828800"/>
            <a:ext cx="1005840" cy="548640"/>
          </a:xfrm>
          <a:prstGeom prst="rect">
            <a:avLst/>
          </a:prstGeom>
          <a:solidFill>
            <a:srgbClr val="06B6D4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032504" y="23957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#06B6D4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4032504" y="25968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239512" y="1828800"/>
            <a:ext cx="1005840" cy="548640"/>
          </a:xfrm>
          <a:prstGeom prst="rect">
            <a:avLst/>
          </a:prstGeom>
          <a:solidFill>
            <a:srgbClr val="0E1628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239512" y="23957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#0E1628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5239512" y="25968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Navy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446520" y="1828800"/>
            <a:ext cx="1005840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46520" y="23957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#1E293B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6446520" y="25968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Charcoal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7653528" y="1828800"/>
            <a:ext cx="1005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33415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653528" y="2395728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#FFFFFF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653528" y="25968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411480" y="2907792"/>
            <a:ext cx="1920240" cy="178308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11480" y="2907792"/>
            <a:ext cx="54864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08" y="2980944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21208" y="298094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521208" y="3438144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21208" y="3721608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type scale. Supports Inter, Space Grotesk, and system fonts across all components.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2560320" y="2907792"/>
            <a:ext cx="1920240" cy="178308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2560320" y="2907792"/>
            <a:ext cx="54864" cy="17830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670048" y="2980944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2670048" y="298094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&lt;&gt;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2670048" y="3438144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Spacing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2670048" y="3721608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spacing primitives. 4px base unit. Consistent padding, margin, and gap tokens.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709160" y="2907792"/>
            <a:ext cx="1920240" cy="178308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4709160" y="2907792"/>
            <a:ext cx="54864" cy="1783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818888" y="2980944"/>
            <a:ext cx="402336" cy="40233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818888" y="298094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◑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4818888" y="3438144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4818888" y="3721608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ThemeProvider with system preference detection. Toggle between light, dark, and auto modes.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6858000" y="2907792"/>
            <a:ext cx="1920240" cy="178308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858000" y="2907792"/>
            <a:ext cx="54864" cy="17830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967728" y="2980944"/>
            <a:ext cx="402336" cy="402336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967728" y="298094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/*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6967728" y="3438144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Theming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6967728" y="3721608"/>
            <a:ext cx="1737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variable-based theming. Override brand colors globally via Tailwind config extension.</a:t>
            </a:r>
            <a:endParaRPr lang="en-US" sz="850" dirty="0"/>
          </a:p>
        </p:txBody>
      </p:sp>
      <p:pic>
        <p:nvPicPr>
          <p:cNvPr id="54" name="Picture 5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8120" y="4707445"/>
            <a:ext cx="1245980" cy="36107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731520"/>
            <a:ext cx="2743200" cy="2743200"/>
          </a:xfrm>
          <a:prstGeom prst="ellipse">
            <a:avLst/>
          </a:prstGeom>
          <a:solidFill>
            <a:srgbClr val="A78BFA">
              <a:alpha val="1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F0F4FF"/>
          </a:solidFill>
          <a:ln w="6350">
            <a:solidFill>
              <a:srgbClr val="4F46E5">
                <a:alpha val="6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4F46E5"/>
                </a:solidFill>
              </a:rPr>
              <a:t>COMPONENTS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Production Components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6 Categories.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11480" y="182880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11480" y="1828800"/>
            <a:ext cx="274320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21208" y="192024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21208" y="2231136"/>
            <a:ext cx="64008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" y="220370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21208" y="2432304"/>
            <a:ext cx="64008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9224" y="240487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Checkbox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21208" y="2633472"/>
            <a:ext cx="64008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" y="2606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Group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21208" y="2834640"/>
            <a:ext cx="64008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9224" y="280720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21208" y="3035808"/>
            <a:ext cx="64008" cy="640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" y="3008376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 Menu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319272" y="182880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319272" y="1828800"/>
            <a:ext cx="274320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29000" y="192024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429000" y="2231136"/>
            <a:ext cx="64008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57016" y="220370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429000" y="2432304"/>
            <a:ext cx="64008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557016" y="240487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Textarea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429000" y="2633472"/>
            <a:ext cx="64008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57016" y="2606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429000" y="2834640"/>
            <a:ext cx="64008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557016" y="280720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Pagination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227064" y="182880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27064" y="1828800"/>
            <a:ext cx="2743200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36792" y="192024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336792" y="2231136"/>
            <a:ext cx="64008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64808" y="220370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336792" y="2432304"/>
            <a:ext cx="64008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64808" y="240487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6336792" y="2633472"/>
            <a:ext cx="64008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64808" y="26060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336792" y="2834640"/>
            <a:ext cx="64008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64808" y="2807208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11480" y="338328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411480" y="3383280"/>
            <a:ext cx="274320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21208" y="347472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521208" y="3785616"/>
            <a:ext cx="64008" cy="640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49224" y="375818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521208" y="3986784"/>
            <a:ext cx="64008" cy="640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49224" y="395935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21208" y="4187952"/>
            <a:ext cx="64008" cy="640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649224" y="41605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Tooltip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3319272" y="338328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3319272" y="3383280"/>
            <a:ext cx="2743200" cy="36576"/>
          </a:xfrm>
          <a:prstGeom prst="rect">
            <a:avLst/>
          </a:prstGeom>
          <a:solidFill>
            <a:srgbClr val="0E1628"/>
          </a:solidFill>
          <a:ln w="12700">
            <a:solidFill>
              <a:srgbClr val="0E1628">
                <a:alpha val="0"/>
              </a:srgbClr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3429000" y="347472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Overlays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3429000" y="3785616"/>
            <a:ext cx="64008" cy="64008"/>
          </a:xfrm>
          <a:prstGeom prst="rect">
            <a:avLst/>
          </a:prstGeom>
          <a:solidFill>
            <a:srgbClr val="0E1628"/>
          </a:solidFill>
          <a:ln w="12700">
            <a:solidFill>
              <a:srgbClr val="0E1628">
                <a:alpha val="0"/>
              </a:srgbClr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3557016" y="375818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 (Modal)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429000" y="3986784"/>
            <a:ext cx="64008" cy="64008"/>
          </a:xfrm>
          <a:prstGeom prst="rect">
            <a:avLst/>
          </a:prstGeom>
          <a:solidFill>
            <a:srgbClr val="0E1628"/>
          </a:solidFill>
          <a:ln w="12700">
            <a:solidFill>
              <a:srgbClr val="0E1628">
                <a:alpha val="0"/>
              </a:srgbClr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3557016" y="395935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Drawer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6227064" y="3383280"/>
            <a:ext cx="274320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227064" y="3383280"/>
            <a:ext cx="2743200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336792" y="3474720"/>
            <a:ext cx="25237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100" dirty="0"/>
          </a:p>
        </p:txBody>
      </p:sp>
      <p:sp>
        <p:nvSpPr>
          <p:cNvPr id="61" name="Shape 58"/>
          <p:cNvSpPr/>
          <p:nvPr/>
        </p:nvSpPr>
        <p:spPr>
          <a:xfrm>
            <a:off x="6336792" y="3785616"/>
            <a:ext cx="6400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464808" y="3758184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Avatar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6336792" y="3986784"/>
            <a:ext cx="6400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464808" y="395935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</a:t>
            </a:r>
            <a:endParaRPr lang="en-US" sz="1000" dirty="0"/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251" y="4800600"/>
            <a:ext cx="1014286" cy="29392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286000"/>
            <a:ext cx="3657600" cy="3657600"/>
          </a:xfrm>
          <a:prstGeom prst="ellipse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4F46E5">
              <a:alpha val="50000"/>
            </a:srgbClr>
          </a:solidFill>
          <a:ln w="6350">
            <a:solidFill>
              <a:srgbClr val="67E8F9">
                <a:alpha val="5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67E8F9"/>
                </a:solidFill>
              </a:rPr>
              <a:t>CUSTOMIZATION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is Fully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 and Customizable.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411480" y="1828800"/>
            <a:ext cx="4114800" cy="297180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48640" y="19202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usage: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37947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</a:t>
            </a:r>
            <a:r>
              <a:rPr lang="en-US" sz="10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{ Button, Card, Badge } </a:t>
            </a: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</a:t>
            </a:r>
            <a:r>
              <a:rPr lang="en-US" sz="10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'@uibrium/ui';
</a:t>
            </a:r>
            <a:r>
              <a:rPr lang="en-US" sz="10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&lt;Button
</a:t>
            </a: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variant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="primary"  </a:t>
            </a: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="lg"
</a:t>
            </a:r>
            <a:r>
              <a:rPr lang="en-US" sz="1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className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="my-custom-btn"
</a:t>
            </a: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asChild
</a:t>
            </a:r>
            <a:r>
              <a:rPr lang="en-US" sz="10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Ship It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&lt;/Button&gt;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874520"/>
            <a:ext cx="4114800" cy="420624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63440" y="1874520"/>
            <a:ext cx="54864" cy="4206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00600" y="192938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291072" y="192938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primary, secondary, ghost, outline, destructive + custom.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663440" y="2350008"/>
            <a:ext cx="4114800" cy="420624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663440" y="2350008"/>
            <a:ext cx="54864" cy="4206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00600" y="240487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91072" y="240487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xs, sm, md, lg, xl — consistent scale across all components.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663440" y="2825496"/>
            <a:ext cx="4114800" cy="420624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663440" y="2825496"/>
            <a:ext cx="54864" cy="4206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800600" y="28803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className prop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291072" y="28803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Tailwind classes freely. Your styles win.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63440" y="3300984"/>
            <a:ext cx="4114800" cy="420624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663440" y="3300984"/>
            <a:ext cx="54864" cy="4206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800600" y="335584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asChild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291072" y="335584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next/link, router components, or any wrapper.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663440" y="3776472"/>
            <a:ext cx="4114800" cy="420624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663440" y="3776472"/>
            <a:ext cx="54864" cy="4206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800600" y="383133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ThemeProvider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291072" y="383133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brand color overrides via Tailwind config extension.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663440" y="4251960"/>
            <a:ext cx="4114800" cy="420624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663440" y="4251960"/>
            <a:ext cx="54864" cy="42062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800600" y="4306824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291072" y="430682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| light | dark — switchable at runtime.</a:t>
            </a:r>
            <a:endParaRPr lang="en-US" sz="900" dirty="0"/>
          </a:p>
        </p:txBody>
      </p:sp>
      <p:pic>
        <p:nvPicPr>
          <p:cNvPr id="36" name="Picture 3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8120" y="4707445"/>
            <a:ext cx="1245980" cy="36107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731520"/>
            <a:ext cx="2743200" cy="2743200"/>
          </a:xfrm>
          <a:prstGeom prst="ellipse">
            <a:avLst/>
          </a:prstGeom>
          <a:solidFill>
            <a:srgbClr val="A78BFA">
              <a:alpha val="1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F0F4FF"/>
          </a:solidFill>
          <a:ln w="6350">
            <a:solidFill>
              <a:srgbClr val="4F46E5">
                <a:alpha val="6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4F46E5"/>
                </a:solidFill>
              </a:rPr>
              <a:t>DEV EXPERIENCE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Feel Effortless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Day One.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11480" y="1828800"/>
            <a:ext cx="192024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11480" y="1920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411480" y="248716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steps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1480" y="273405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+ import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560320" y="1828800"/>
            <a:ext cx="192024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1920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2560320" y="248716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components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560320" y="273405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production-tested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709160" y="1828800"/>
            <a:ext cx="192024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709160" y="1920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4709160" y="248716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hooks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709160" y="273405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Disclosure, ClickOutside, MediaQuery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858000" y="1828800"/>
            <a:ext cx="192024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858000" y="1920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v2.0</a:t>
            </a:r>
            <a:endParaRPr lang="en-US" sz="3400" dirty="0"/>
          </a:p>
        </p:txBody>
      </p:sp>
      <p:sp>
        <p:nvSpPr>
          <p:cNvPr id="21" name="Text 18"/>
          <p:cNvSpPr/>
          <p:nvPr/>
        </p:nvSpPr>
        <p:spPr>
          <a:xfrm>
            <a:off x="6858000" y="248716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release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858000" y="2734056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1 day ago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411480" y="3246120"/>
            <a:ext cx="39776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21208" y="3323844"/>
            <a:ext cx="420624" cy="42062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21208" y="3323844"/>
            <a:ext cx="5120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pkg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033272" y="331012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One-package install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033272" y="354787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 add @uibrium/ui framer-motion lucide-react — that's it.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11480" y="3931920"/>
            <a:ext cx="39776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21208" y="4009644"/>
            <a:ext cx="420624" cy="420624"/>
          </a:xfrm>
          <a:prstGeom prst="ellipse">
            <a:avLst/>
          </a:prstGeom>
          <a:solidFill>
            <a:srgbClr val="3730A3"/>
          </a:solidFill>
          <a:ln w="12700">
            <a:solidFill>
              <a:srgbClr val="3730A3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" y="40096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◑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033272" y="399592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dark mode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1033272" y="423367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your app in ThemeProvider. System preference is respected.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3246120"/>
            <a:ext cx="39776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773168" y="3323844"/>
            <a:ext cx="420624" cy="42062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73168" y="33238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&lt;/&gt;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285232" y="331012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asChild composition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285232" y="354787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with next/link or any routing lib without extra wrappers.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663440" y="3931920"/>
            <a:ext cx="39776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773168" y="4009644"/>
            <a:ext cx="420624" cy="42062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773168" y="4009644"/>
            <a:ext cx="51206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5285232" y="399592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Documentation-first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5285232" y="423367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documented at uibrium.vercel.app/docs.</a:t>
            </a:r>
            <a:endParaRPr lang="en-US" sz="900" dirty="0"/>
          </a:p>
        </p:txBody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2972" y="4753816"/>
            <a:ext cx="1065320" cy="30871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286000"/>
            <a:ext cx="3657600" cy="3657600"/>
          </a:xfrm>
          <a:prstGeom prst="ellipse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4F46E5">
              <a:alpha val="50000"/>
            </a:srgbClr>
          </a:solidFill>
          <a:ln w="6350">
            <a:solidFill>
              <a:srgbClr val="67E8F9">
                <a:alpha val="5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67E8F9"/>
                </a:solidFill>
              </a:rPr>
              <a:t>OPEN SOURCE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Gift to the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Community.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411480" y="1874520"/>
            <a:ext cx="1965960" cy="260604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70432" y="1993392"/>
            <a:ext cx="457200" cy="45720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1993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84632" y="276148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84632" y="3081528"/>
            <a:ext cx="181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aryanony/uibrium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84632" y="3364992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issues, PRs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777240" y="4041648"/>
            <a:ext cx="1234440" cy="274320"/>
          </a:xfrm>
          <a:prstGeom prst="rect">
            <a:avLst/>
          </a:prstGeom>
          <a:solidFill>
            <a:srgbClr val="7C3AED">
              <a:alpha val="45000"/>
            </a:srgbClr>
          </a:solidFill>
          <a:ln w="9525">
            <a:solidFill>
              <a:srgbClr val="7C3AED">
                <a:alpha val="6000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40416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Explore -&gt;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560320" y="1874520"/>
            <a:ext cx="1965960" cy="260604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319272" y="1993392"/>
            <a:ext cx="457200" cy="457200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319272" y="1993392"/>
            <a:ext cx="56027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2633472" y="276148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2633472" y="3081528"/>
            <a:ext cx="181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@uibrium/ui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2633472" y="3364992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registry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926080" y="4041648"/>
            <a:ext cx="1234440" cy="274320"/>
          </a:xfrm>
          <a:prstGeom prst="rect">
            <a:avLst/>
          </a:prstGeom>
          <a:solidFill>
            <a:srgbClr val="B91C1C">
              <a:alpha val="45000"/>
            </a:srgbClr>
          </a:solidFill>
          <a:ln w="9525">
            <a:solidFill>
              <a:srgbClr val="B91C1C">
                <a:alpha val="6000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926080" y="40416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Explore -&gt;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709160" y="1874520"/>
            <a:ext cx="1965960" cy="260604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468112" y="1993392"/>
            <a:ext cx="457200" cy="4572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68112" y="1993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782312" y="276148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782312" y="3081528"/>
            <a:ext cx="181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uibrium.vercel.app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4782312" y="3364992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+ Theming + Hooks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074920" y="4041648"/>
            <a:ext cx="1234440" cy="274320"/>
          </a:xfrm>
          <a:prstGeom prst="rect">
            <a:avLst/>
          </a:prstGeom>
          <a:solidFill>
            <a:srgbClr val="2563EB">
              <a:alpha val="45000"/>
            </a:srgbClr>
          </a:solidFill>
          <a:ln w="9525">
            <a:solidFill>
              <a:srgbClr val="2563EB">
                <a:alpha val="6000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074920" y="40416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Explore -&gt;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858000" y="1874520"/>
            <a:ext cx="1965960" cy="260604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616952" y="1993392"/>
            <a:ext cx="457200" cy="45720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616952" y="1993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931152" y="276148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931152" y="3081528"/>
            <a:ext cx="181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Discussions + Issues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931152" y="3364992"/>
            <a:ext cx="181051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Discussions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7223760" y="4041648"/>
            <a:ext cx="1234440" cy="274320"/>
          </a:xfrm>
          <a:prstGeom prst="rect">
            <a:avLst/>
          </a:prstGeom>
          <a:solidFill>
            <a:srgbClr val="06B6D4">
              <a:alpha val="45000"/>
            </a:srgbClr>
          </a:solidFill>
          <a:ln w="9525">
            <a:solidFill>
              <a:srgbClr val="06B6D4">
                <a:alpha val="6000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223760" y="404164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Explore -&gt;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57200" y="4736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by Aryan Gupta — contributed with care to the global developer community.</a:t>
            </a:r>
            <a:endParaRPr lang="en-US" sz="900" dirty="0"/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8120" y="4707445"/>
            <a:ext cx="1245980" cy="36107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731520"/>
            <a:ext cx="2743200" cy="2743200"/>
          </a:xfrm>
          <a:prstGeom prst="ellipse">
            <a:avLst/>
          </a:prstGeom>
          <a:solidFill>
            <a:srgbClr val="A78BFA">
              <a:alpha val="1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F0F4FF"/>
          </a:solidFill>
          <a:ln w="6350">
            <a:solidFill>
              <a:srgbClr val="4F46E5">
                <a:alpha val="6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4F46E5"/>
                </a:solidFill>
              </a:rPr>
              <a:t>USE CASES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Uibrium Thrives.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solo projects to enterprise-grade product teams.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274320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11480" y="1874520"/>
            <a:ext cx="54864" cy="13533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984248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19842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33272" y="19659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2377440"/>
            <a:ext cx="2487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MVP fast with a complete, polished UI system. No design team required.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319272" y="1874520"/>
            <a:ext cx="274320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319272" y="1874520"/>
            <a:ext cx="54864" cy="13533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56432" y="1984248"/>
            <a:ext cx="384048" cy="38404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56432" y="19842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941064" y="19659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456432" y="2377440"/>
            <a:ext cx="2487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Table, Tabs, Badge, Accordion — exactly the primitives analytics UIs need.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27064" y="1874520"/>
            <a:ext cx="274320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27064" y="1874520"/>
            <a:ext cx="54864" cy="135331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64224" y="1984248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64224" y="19842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848856" y="19659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Tools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364224" y="2377440"/>
            <a:ext cx="2487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admin panels, CRMs, and back-office apps with consistent, trusted components.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11480" y="3355848"/>
            <a:ext cx="274320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11480" y="3355848"/>
            <a:ext cx="54864" cy="135331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48640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1033272" y="34472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Products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548640" y="3858768"/>
            <a:ext cx="2487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Professional, accessible UI that scales with your product from beta to enterprise.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319272" y="3355848"/>
            <a:ext cx="274320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3319272" y="3355848"/>
            <a:ext cx="54864" cy="13533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56432" y="3465576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456432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3941064" y="34472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Systems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3456432" y="3858768"/>
            <a:ext cx="2487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Uibrium as the foundation for your own company component system.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227064" y="3355848"/>
            <a:ext cx="2743200" cy="13533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6227064" y="3355848"/>
            <a:ext cx="54864" cy="135331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364224" y="3465576"/>
            <a:ext cx="384048" cy="38404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>
                <a:alpha val="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364224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6848856" y="344728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Projects</a:t>
            </a:r>
            <a:endParaRPr lang="en-US" sz="1150" dirty="0"/>
          </a:p>
        </p:txBody>
      </p:sp>
      <p:sp>
        <p:nvSpPr>
          <p:cNvPr id="43" name="Text 40"/>
          <p:cNvSpPr/>
          <p:nvPr/>
        </p:nvSpPr>
        <p:spPr>
          <a:xfrm>
            <a:off x="6364224" y="3858768"/>
            <a:ext cx="24871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premium-quality frontends fast. Impress clients with polished interactions.</a:t>
            </a:r>
            <a:endParaRPr lang="en-US" sz="950" dirty="0"/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7803" y="4783583"/>
            <a:ext cx="1180730" cy="34216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286000"/>
            <a:ext cx="3657600" cy="3657600"/>
          </a:xfrm>
          <a:prstGeom prst="ellipse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4F46E5">
              <a:alpha val="50000"/>
            </a:srgbClr>
          </a:solidFill>
          <a:ln w="6350">
            <a:solidFill>
              <a:srgbClr val="67E8F9">
                <a:alpha val="5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67E8F9"/>
                </a:solidFill>
              </a:rPr>
              <a:t>ECOSYSTEM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Full Uibrium Ecosystem.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411480" y="1600200"/>
            <a:ext cx="8321040" cy="82296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600200"/>
            <a:ext cx="54864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17830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17830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15568" y="166420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Documentation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15568" y="196596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uibrium.vercel.app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840480" y="169164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component API docs, theming guide, hooks reference.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11480" y="2560320"/>
            <a:ext cx="8321040" cy="82296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4"/>
          <p:cNvSpPr/>
          <p:nvPr/>
        </p:nvSpPr>
        <p:spPr>
          <a:xfrm>
            <a:off x="411480" y="2560320"/>
            <a:ext cx="54864" cy="822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2743200"/>
            <a:ext cx="402336" cy="40233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594360" y="2743200"/>
            <a:ext cx="5212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15568" y="262432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Package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5568" y="292608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@uibrium/ui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840480" y="2651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via npm, yarn, or pnpm. Peer deps: framer-motion + lucide-react.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11480" y="3520440"/>
            <a:ext cx="8321040" cy="822960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11480" y="3520440"/>
            <a:ext cx="54864" cy="8229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94360" y="3703320"/>
            <a:ext cx="402336" cy="40233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94360" y="370332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1115568" y="3584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115568" y="38862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github.com/aryanony/uibrium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3840480" y="361188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issue tracker, discussions, CONTRIBUTING.md, changelog.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11480" y="4553712"/>
            <a:ext cx="8321040" cy="402336"/>
          </a:xfrm>
          <a:prstGeom prst="rect">
            <a:avLst/>
          </a:prstGeom>
          <a:solidFill>
            <a:srgbClr val="111827">
              <a:alpha val="70000"/>
            </a:srgbClr>
          </a:solidFill>
          <a:ln w="9525">
            <a:solidFill>
              <a:srgbClr val="4F46E5">
                <a:alpha val="50000"/>
              </a:srgbClr>
            </a:solidFill>
            <a:prstDash val="solid"/>
          </a:ln>
          <a:effectLst>
            <a:outerShdw blurRad="152400" dist="508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594360" y="460857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install: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2057400" y="4608576"/>
            <a:ext cx="6492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pnpm add @uibrium/ui framer-motion lucide-react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731520"/>
            <a:ext cx="2743200" cy="2743200"/>
          </a:xfrm>
          <a:prstGeom prst="ellipse">
            <a:avLst/>
          </a:prstGeom>
          <a:solidFill>
            <a:srgbClr val="A78BFA">
              <a:alpha val="1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1554480" cy="256032"/>
          </a:xfrm>
          <a:prstGeom prst="roundRect">
            <a:avLst>
              <a:gd name="adj" fmla="val 35714"/>
            </a:avLst>
          </a:prstGeom>
          <a:solidFill>
            <a:srgbClr val="F0F4FF"/>
          </a:solidFill>
          <a:ln w="6350">
            <a:solidFill>
              <a:srgbClr val="4F46E5">
                <a:alpha val="6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4F46E5"/>
                </a:solidFill>
              </a:rPr>
              <a:t>ROADMAP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640080"/>
            <a:ext cx="8138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Coming to Uibrium.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298448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improvements — subject to community priorities.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783080" y="1719072"/>
            <a:ext cx="557784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1480" y="1920240"/>
            <a:ext cx="274320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" y="1920240"/>
            <a:ext cx="274320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609344" y="1563624"/>
            <a:ext cx="329184" cy="32918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609344" y="1563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21208" y="1993392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— v2.0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21208" y="2377440"/>
            <a:ext cx="118872" cy="11887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4088" y="235000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core components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21208" y="2852928"/>
            <a:ext cx="118872" cy="11887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2549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ThemeProvider + dark mode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21208" y="3328416"/>
            <a:ext cx="118872" cy="11887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4088" y="330098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WAI-ARIA accessibility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21208" y="3803904"/>
            <a:ext cx="118872" cy="11887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4088" y="37764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docs site live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19272" y="1920240"/>
            <a:ext cx="274320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319272" y="1920240"/>
            <a:ext cx="274320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17136" y="1563624"/>
            <a:ext cx="329184" cy="32918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17136" y="1563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429000" y="1993392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— v2.x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3429000" y="2377440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611880" y="235000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form primitives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3429000" y="2852928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611880" y="282549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DatePicker &amp; TimePicker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429000" y="3328416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611880" y="330098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 / Notification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3429000" y="3803904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611880" y="37764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hook library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227064" y="1920240"/>
            <a:ext cx="2743200" cy="2834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27064" y="1920240"/>
            <a:ext cx="2743200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424928" y="1563624"/>
            <a:ext cx="329184" cy="32918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424928" y="1563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336792" y="1993392"/>
            <a:ext cx="25237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— v3.0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336792" y="2377440"/>
            <a:ext cx="118872" cy="11887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519672" y="235000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theming tokens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336792" y="2852928"/>
            <a:ext cx="118872" cy="11887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519672" y="282549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Storybook integration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336792" y="3328416"/>
            <a:ext cx="118872" cy="11887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519672" y="330098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component generator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6336792" y="3803904"/>
            <a:ext cx="118872" cy="118872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519672" y="37764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A11y testing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457200" y="482803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items are subject to change based on community feedback and contribution.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286000"/>
            <a:ext cx="3657600" cy="3657600"/>
          </a:xfrm>
          <a:prstGeom prst="ellipse">
            <a:avLst/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457200"/>
            <a:ext cx="5486400" cy="4572000"/>
          </a:xfrm>
          <a:prstGeom prst="ellipse">
            <a:avLst/>
          </a:prstGeom>
          <a:solidFill>
            <a:srgbClr val="7C3AED">
              <a:alpha val="9000"/>
            </a:srgbClr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0" y="731520"/>
            <a:ext cx="2743200" cy="3200400"/>
          </a:xfrm>
          <a:prstGeom prst="ellipse">
            <a:avLst/>
          </a:prstGeom>
          <a:solidFill>
            <a:srgbClr val="2563EB">
              <a:alpha val="12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18288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rebuilding. Start composing.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731520" y="2487168"/>
            <a:ext cx="7680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Uibrium is your Design Sanctuary — handcrafted, open source,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ready to power your next great product.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1828800" y="3310128"/>
            <a:ext cx="2377440" cy="420624"/>
          </a:xfrm>
          <a:prstGeom prst="rect">
            <a:avLst/>
          </a:prstGeom>
          <a:solidFill>
            <a:srgbClr val="7C3AED">
              <a:alpha val="60000"/>
            </a:srgbClr>
          </a:solidFill>
          <a:ln w="12700">
            <a:solidFill>
              <a:srgbClr val="7C3AED">
                <a:alpha val="75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828800" y="3310128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Docs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09160" y="3310128"/>
            <a:ext cx="2377440" cy="420624"/>
          </a:xfrm>
          <a:prstGeom prst="rect">
            <a:avLst/>
          </a:prstGeom>
          <a:solidFill>
            <a:srgbClr val="2563EB">
              <a:alpha val="60000"/>
            </a:srgbClr>
          </a:solidFill>
          <a:ln w="12700">
            <a:solidFill>
              <a:srgbClr val="2563EB">
                <a:alpha val="75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709160" y="3310128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on GitHub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136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uibrium.vercel.app   ·   npmjs.com/package/uibrium   ·   github.com/aryanony/uibrium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57200" y="47091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Contributed with care by Aryan Gupta  ·  © 2026 UiBrium Design Sanctuary</a:t>
            </a:r>
            <a:endParaRPr lang="en-US" sz="850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435" y="151197"/>
            <a:ext cx="6400800" cy="167760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1140</Words>
  <Application>Microsoft Office PowerPoint</Application>
  <PresentationFormat>On-screen Show (16:9)</PresentationFormat>
  <Paragraphs>290</Paragraphs>
  <Slides>14</Slides>
  <Notes>14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Uibrium — Balanced UI. Infinite Possibilities.</dc:title>
  <dc:subject>PptxGenJS Presentation</dc:subject>
  <dc:creator>Aryan Gupta</dc:creator>
  <cp:lastModifiedBy>aRya</cp:lastModifiedBy>
  <cp:revision>5</cp:revision>
  <dcterms:created xsi:type="dcterms:W3CDTF">2026-04-13T09:21:41Z</dcterms:created>
  <dcterms:modified xsi:type="dcterms:W3CDTF">2026-04-13T09:40:21Z</dcterms:modified>
</cp:coreProperties>
</file>